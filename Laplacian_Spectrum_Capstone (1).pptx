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 (MS)" panose="020B0604020202020204" charset="0"/>
      <p:regular r:id="rId20"/>
    </p:embeddedFont>
    <p:embeddedFont>
      <p:font typeface="Calibri (MS) Bold" panose="020B0604020202020204" charset="0"/>
      <p:regular r:id="rId21"/>
    </p:embeddedFont>
    <p:embeddedFont>
      <p:font typeface="Calibri (MS) Italics" panose="020B0604020202020204" charset="0"/>
      <p:regular r:id="rId22"/>
    </p:embeddedFont>
    <p:embeddedFont>
      <p:font typeface="Cambria Bold" panose="02040803050406030204" pitchFamily="18" charset="0"/>
      <p:regular r:id="rId23"/>
      <p:bold r:id="rId24"/>
    </p:embeddedFont>
    <p:embeddedFont>
      <p:font typeface="Cambria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8243" autoAdjust="0"/>
  </p:normalViewPr>
  <p:slideViewPr>
    <p:cSldViewPr>
      <p:cViewPr varScale="1">
        <p:scale>
          <a:sx n="63" d="100"/>
          <a:sy n="63" d="100"/>
        </p:scale>
        <p:origin x="11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dirty="0" err="1"/>
              <a:t>שלום</a:t>
            </a:r>
            <a:r>
              <a:rPr lang="en-US" dirty="0"/>
              <a:t> </a:t>
            </a:r>
            <a:r>
              <a:rPr lang="en-US" dirty="0" err="1"/>
              <a:t>לכולם</a:t>
            </a:r>
            <a:r>
              <a:rPr lang="en-US" dirty="0"/>
              <a:t>, </a:t>
            </a:r>
            <a:r>
              <a:rPr lang="en-US" dirty="0" err="1"/>
              <a:t>שמי</a:t>
            </a:r>
            <a:r>
              <a:rPr lang="en-US" dirty="0"/>
              <a:t> שאדי </a:t>
            </a:r>
            <a:r>
              <a:rPr lang="en-US" dirty="0" err="1"/>
              <a:t>אלקיש</a:t>
            </a:r>
            <a:r>
              <a:rPr lang="en-US" dirty="0"/>
              <a:t>. </a:t>
            </a:r>
            <a:r>
              <a:rPr lang="en-US" dirty="0" err="1"/>
              <a:t>אני</a:t>
            </a:r>
            <a:r>
              <a:rPr lang="en-US" dirty="0"/>
              <a:t> </a:t>
            </a:r>
            <a:r>
              <a:rPr lang="en-US" dirty="0" err="1"/>
              <a:t>שמח</a:t>
            </a:r>
            <a:r>
              <a:rPr lang="en-US" dirty="0"/>
              <a:t> </a:t>
            </a:r>
            <a:r>
              <a:rPr lang="en-US" dirty="0" err="1"/>
              <a:t>להציג</a:t>
            </a:r>
            <a:r>
              <a:rPr lang="en-US" dirty="0"/>
              <a:t> </a:t>
            </a:r>
            <a:r>
              <a:rPr lang="en-US" dirty="0" err="1"/>
              <a:t>בפניכם</a:t>
            </a:r>
            <a:r>
              <a:rPr lang="en-US" dirty="0"/>
              <a:t> </a:t>
            </a:r>
            <a:r>
              <a:rPr lang="en-US" dirty="0" err="1"/>
              <a:t>היום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פרויקט</a:t>
            </a:r>
            <a:r>
              <a:rPr lang="en-US" dirty="0"/>
              <a:t> </a:t>
            </a:r>
            <a:r>
              <a:rPr lang="en-US" dirty="0" err="1"/>
              <a:t>הגמר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he-IL" dirty="0"/>
              <a:t>י</a:t>
            </a:r>
            <a:r>
              <a:rPr lang="en-US" dirty="0"/>
              <a:t>, </a:t>
            </a:r>
            <a:r>
              <a:rPr lang="en-US" dirty="0" err="1"/>
              <a:t>שנעשה</a:t>
            </a:r>
            <a:r>
              <a:rPr lang="en-US" dirty="0"/>
              <a:t> </a:t>
            </a:r>
            <a:r>
              <a:rPr lang="en-US" dirty="0" err="1"/>
              <a:t>בהנחיית</a:t>
            </a:r>
            <a:r>
              <a:rPr lang="en-US" dirty="0"/>
              <a:t> </a:t>
            </a:r>
            <a:r>
              <a:rPr lang="en-US" dirty="0" err="1"/>
              <a:t>פרופסור</a:t>
            </a:r>
            <a:r>
              <a:rPr lang="en-US" dirty="0"/>
              <a:t> </a:t>
            </a:r>
            <a:r>
              <a:rPr lang="en-US" dirty="0" err="1"/>
              <a:t>אמיל</a:t>
            </a:r>
            <a:r>
              <a:rPr lang="en-US" dirty="0"/>
              <a:t> </a:t>
            </a:r>
            <a:r>
              <a:rPr lang="en-US" dirty="0" err="1"/>
              <a:t>סוקן</a:t>
            </a:r>
            <a:r>
              <a:rPr lang="en-US" dirty="0"/>
              <a:t>. </a:t>
            </a:r>
            <a:r>
              <a:rPr lang="en-US" dirty="0" err="1"/>
              <a:t>המחקר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</a:t>
            </a:r>
            <a:r>
              <a:rPr lang="en-US" dirty="0" err="1"/>
              <a:t>סובב</a:t>
            </a:r>
            <a:r>
              <a:rPr lang="en-US" dirty="0"/>
              <a:t> </a:t>
            </a:r>
            <a:r>
              <a:rPr lang="en-US" dirty="0" err="1"/>
              <a:t>סביב</a:t>
            </a:r>
            <a:r>
              <a:rPr lang="en-US" dirty="0"/>
              <a:t> </a:t>
            </a:r>
            <a:r>
              <a:rPr lang="en-US" dirty="0" err="1"/>
              <a:t>שאלה</a:t>
            </a:r>
            <a:r>
              <a:rPr lang="en-US" dirty="0"/>
              <a:t> </a:t>
            </a:r>
            <a:r>
              <a:rPr lang="en-US" dirty="0" err="1"/>
              <a:t>אחת</a:t>
            </a:r>
            <a:r>
              <a:rPr lang="en-US" dirty="0"/>
              <a:t> </a:t>
            </a:r>
            <a:r>
              <a:rPr lang="en-US" dirty="0" err="1"/>
              <a:t>מסקרנת</a:t>
            </a:r>
            <a:r>
              <a:rPr lang="en-US" dirty="0"/>
              <a:t>: </a:t>
            </a:r>
            <a:r>
              <a:rPr lang="en-US" dirty="0" err="1"/>
              <a:t>האם</a:t>
            </a:r>
            <a:r>
              <a:rPr lang="en-US" dirty="0"/>
              <a:t> </a:t>
            </a:r>
            <a:r>
              <a:rPr lang="en-US" dirty="0" err="1"/>
              <a:t>אפשר</a:t>
            </a:r>
            <a:r>
              <a:rPr lang="en-US" dirty="0"/>
              <a:t> '</a:t>
            </a:r>
            <a:r>
              <a:rPr lang="en-US" dirty="0" err="1"/>
              <a:t>לשמוע</a:t>
            </a:r>
            <a:r>
              <a:rPr lang="en-US" dirty="0"/>
              <a:t>' </a:t>
            </a:r>
            <a:r>
              <a:rPr lang="en-US" dirty="0" err="1"/>
              <a:t>טקסטורה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en-US" dirty="0"/>
              <a:t> </a:t>
            </a:r>
            <a:r>
              <a:rPr lang="en-US" dirty="0" err="1"/>
              <a:t>תמונה</a:t>
            </a:r>
            <a:r>
              <a:rPr lang="en-US" dirty="0"/>
              <a:t> </a:t>
            </a:r>
            <a:r>
              <a:rPr lang="en-US" dirty="0" err="1"/>
              <a:t>באמצעות</a:t>
            </a:r>
            <a:r>
              <a:rPr lang="en-US" dirty="0"/>
              <a:t> </a:t>
            </a:r>
            <a:r>
              <a:rPr lang="en-US" dirty="0" err="1"/>
              <a:t>ספקטרום</a:t>
            </a:r>
            <a:r>
              <a:rPr lang="en-US" dirty="0"/>
              <a:t> </a:t>
            </a:r>
            <a:r>
              <a:rPr lang="en-US" dirty="0" err="1"/>
              <a:t>הלפלסיאן</a:t>
            </a:r>
            <a:r>
              <a:rPr lang="en-US" dirty="0"/>
              <a:t>? </a:t>
            </a:r>
            <a:r>
              <a:rPr lang="en-US" dirty="0" err="1"/>
              <a:t>בואו</a:t>
            </a:r>
            <a:r>
              <a:rPr lang="en-US" dirty="0"/>
              <a:t> </a:t>
            </a:r>
            <a:r>
              <a:rPr lang="en-US" dirty="0" err="1"/>
              <a:t>נתחיל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he-IL" dirty="0"/>
              <a:t>אלו הנקודות שנעבור עליהם היום, נעבור על כל נושא ונפרט אותו, אז נתחיל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Notes Placeholder 4"/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914400" y="3251200"/>
                <a:ext cx="7315200" cy="3081338"/>
              </a:xfrm>
              <a:prstGeom prst="rect">
                <a:avLst/>
              </a:prstGeom>
            </p:spPr>
            <p:txBody>
              <a:bodyPr vert="horz" lIns="91440" tIns="45720" rIns="91440" bIns="45720" rtlCol="0"/>
              <a:lstStyle/>
              <a:p>
                <a:pPr algn="r" rtl="1"/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הפרויקט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מתחיל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תיאורטית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בשנת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1966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המתמטיקאי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מארק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קאק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'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אפשר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לשמוע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צורה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?'.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קאק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שכאשר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ממברנה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רוטטת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מפיקה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טבעיים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מבחינה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מתמטית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האלו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בעצם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הערכים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העצמיים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אופרטור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הלפלסיאן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הרציף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kern="120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𝛻</m:t>
                        </m:r>
                      </m:e>
                      <m:sup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שלו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ועמוקה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אוסף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הספקטרום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מגדיר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בלעדי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וייחודי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הצורה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הגיאומטרית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he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US" dirty="0" err="1"/>
                  <a:t>התשובה</a:t>
                </a:r>
                <a:r>
                  <a:rPr lang="en-US" dirty="0"/>
                  <a:t>, </a:t>
                </a:r>
                <a:r>
                  <a:rPr lang="en-US" dirty="0" err="1"/>
                  <a:t>שהגיעה</a:t>
                </a:r>
                <a:r>
                  <a:rPr lang="en-US" dirty="0"/>
                  <a:t> </a:t>
                </a:r>
                <a:r>
                  <a:rPr lang="en-US" dirty="0" err="1"/>
                  <a:t>מאוחר</a:t>
                </a:r>
                <a:r>
                  <a:rPr lang="en-US" dirty="0"/>
                  <a:t> </a:t>
                </a:r>
                <a:r>
                  <a:rPr lang="en-US" dirty="0" err="1"/>
                  <a:t>יותר</a:t>
                </a:r>
                <a:r>
                  <a:rPr lang="en-US" dirty="0"/>
                  <a:t> </a:t>
                </a:r>
                <a:r>
                  <a:rPr lang="en-US" dirty="0" err="1"/>
                  <a:t>על</a:t>
                </a:r>
                <a:r>
                  <a:rPr lang="en-US" dirty="0"/>
                  <a:t> </a:t>
                </a:r>
                <a:r>
                  <a:rPr lang="en-US" dirty="0" err="1"/>
                  <a:t>ידי</a:t>
                </a:r>
                <a:r>
                  <a:rPr lang="en-US" dirty="0"/>
                  <a:t> </a:t>
                </a:r>
                <a:r>
                  <a:rPr lang="en-US" dirty="0" err="1"/>
                  <a:t>גורדון</a:t>
                </a:r>
                <a:r>
                  <a:rPr lang="en-US" dirty="0"/>
                  <a:t> ו-</a:t>
                </a:r>
                <a:r>
                  <a:rPr lang="en-US" dirty="0" err="1"/>
                  <a:t>ווב</a:t>
                </a:r>
                <a:r>
                  <a:rPr lang="en-US" dirty="0"/>
                  <a:t>, </a:t>
                </a:r>
                <a:r>
                  <a:rPr lang="en-US" dirty="0" err="1"/>
                  <a:t>הייתה</a:t>
                </a:r>
                <a:r>
                  <a:rPr lang="en-US" dirty="0"/>
                  <a:t> '</a:t>
                </a:r>
                <a:r>
                  <a:rPr lang="en-US" dirty="0" err="1"/>
                  <a:t>לא</a:t>
                </a:r>
                <a:r>
                  <a:rPr lang="en-US" dirty="0"/>
                  <a:t>'. </a:t>
                </a:r>
                <a:r>
                  <a:rPr lang="en-US" dirty="0" err="1"/>
                  <a:t>הם</a:t>
                </a:r>
                <a:r>
                  <a:rPr lang="en-US" dirty="0"/>
                  <a:t> </a:t>
                </a:r>
                <a:r>
                  <a:rPr lang="en-US" dirty="0" err="1"/>
                  <a:t>הוכיחו</a:t>
                </a:r>
                <a:r>
                  <a:rPr lang="en-US" dirty="0"/>
                  <a:t> </a:t>
                </a:r>
                <a:r>
                  <a:rPr lang="en-US" dirty="0" err="1"/>
                  <a:t>מתמטית</a:t>
                </a:r>
                <a:r>
                  <a:rPr lang="en-US" dirty="0"/>
                  <a:t> </a:t>
                </a:r>
                <a:r>
                  <a:rPr lang="en-US" dirty="0" err="1"/>
                  <a:t>שקיימים</a:t>
                </a:r>
                <a:r>
                  <a:rPr lang="en-US" dirty="0"/>
                  <a:t> </a:t>
                </a:r>
                <a:r>
                  <a:rPr lang="en-US" dirty="0" err="1"/>
                  <a:t>תופים</a:t>
                </a:r>
                <a:r>
                  <a:rPr lang="en-US" dirty="0"/>
                  <a:t> </a:t>
                </a:r>
                <a:r>
                  <a:rPr lang="en-US" dirty="0" err="1"/>
                  <a:t>בצורות</a:t>
                </a:r>
                <a:r>
                  <a:rPr lang="en-US" dirty="0"/>
                  <a:t> </a:t>
                </a:r>
                <a:r>
                  <a:rPr lang="en-US" dirty="0" err="1"/>
                  <a:t>שונות</a:t>
                </a:r>
                <a:r>
                  <a:rPr lang="en-US" dirty="0"/>
                  <a:t> </a:t>
                </a:r>
                <a:r>
                  <a:rPr lang="en-US" dirty="0" err="1"/>
                  <a:t>לחלוטין</a:t>
                </a:r>
                <a:r>
                  <a:rPr lang="en-US" dirty="0"/>
                  <a:t> </a:t>
                </a:r>
                <a:r>
                  <a:rPr lang="en-US" dirty="0" err="1"/>
                  <a:t>שמפיקים</a:t>
                </a:r>
                <a:r>
                  <a:rPr lang="en-US" dirty="0"/>
                  <a:t> </a:t>
                </a:r>
                <a:r>
                  <a:rPr lang="en-US" dirty="0" err="1"/>
                  <a:t>בדיוק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אותם</a:t>
                </a:r>
                <a:r>
                  <a:rPr lang="en-US" dirty="0"/>
                  <a:t> </a:t>
                </a:r>
                <a:r>
                  <a:rPr lang="en-US" dirty="0" err="1"/>
                  <a:t>הצלילים</a:t>
                </a:r>
                <a:r>
                  <a:rPr lang="en-US" dirty="0"/>
                  <a:t>. </a:t>
                </a:r>
                <a:r>
                  <a:rPr lang="en-US" dirty="0" err="1"/>
                  <a:t>אבל</a:t>
                </a:r>
                <a:r>
                  <a:rPr lang="en-US" dirty="0"/>
                  <a:t>, </a:t>
                </a:r>
                <a:r>
                  <a:rPr lang="en-US" dirty="0" err="1"/>
                  <a:t>למרות</a:t>
                </a:r>
                <a:r>
                  <a:rPr lang="en-US" dirty="0"/>
                  <a:t> </a:t>
                </a:r>
                <a:r>
                  <a:rPr lang="en-US" dirty="0" err="1"/>
                  <a:t>שלא</a:t>
                </a:r>
                <a:r>
                  <a:rPr lang="en-US" dirty="0"/>
                  <a:t> </a:t>
                </a:r>
                <a:r>
                  <a:rPr lang="en-US" dirty="0" err="1"/>
                  <a:t>תמיד</a:t>
                </a:r>
                <a:r>
                  <a:rPr lang="en-US" dirty="0"/>
                  <a:t> </a:t>
                </a:r>
                <a:r>
                  <a:rPr lang="en-US" dirty="0" err="1"/>
                  <a:t>אפשר</a:t>
                </a:r>
                <a:r>
                  <a:rPr lang="en-US" dirty="0"/>
                  <a:t> </a:t>
                </a:r>
                <a:r>
                  <a:rPr lang="en-US" dirty="0" err="1"/>
                  <a:t>לשחזר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הצורה</a:t>
                </a:r>
                <a:r>
                  <a:rPr lang="en-US" dirty="0"/>
                  <a:t> </a:t>
                </a:r>
                <a:r>
                  <a:rPr lang="en-US" dirty="0" err="1"/>
                  <a:t>המדויקת</a:t>
                </a:r>
                <a:r>
                  <a:rPr lang="en-US" dirty="0"/>
                  <a:t>, </a:t>
                </a:r>
                <a:r>
                  <a:rPr lang="en-US" dirty="0" err="1"/>
                  <a:t>הם</a:t>
                </a:r>
                <a:r>
                  <a:rPr lang="en-US" dirty="0"/>
                  <a:t> </a:t>
                </a:r>
                <a:r>
                  <a:rPr lang="en-US" dirty="0" err="1"/>
                  <a:t>הראו</a:t>
                </a:r>
                <a:r>
                  <a:rPr lang="en-US" dirty="0"/>
                  <a:t> </a:t>
                </a:r>
                <a:r>
                  <a:rPr lang="en-US" dirty="0" err="1"/>
                  <a:t>שהספקטרום</a:t>
                </a:r>
                <a:r>
                  <a:rPr lang="en-US" dirty="0"/>
                  <a:t> </a:t>
                </a:r>
                <a:r>
                  <a:rPr lang="en-US" dirty="0" err="1"/>
                  <a:t>הזה</a:t>
                </a:r>
                <a:r>
                  <a:rPr lang="en-US" dirty="0"/>
                  <a:t> </a:t>
                </a:r>
                <a:r>
                  <a:rPr lang="en-US" dirty="0" err="1"/>
                  <a:t>עדיין</a:t>
                </a:r>
                <a:r>
                  <a:rPr lang="en-US" dirty="0"/>
                  <a:t> </a:t>
                </a:r>
                <a:r>
                  <a:rPr lang="en-US" dirty="0" err="1"/>
                  <a:t>מהווה</a:t>
                </a:r>
                <a:r>
                  <a:rPr lang="en-US" dirty="0"/>
                  <a:t> '</a:t>
                </a:r>
                <a:r>
                  <a:rPr lang="en-US" dirty="0" err="1"/>
                  <a:t>חתימה</a:t>
                </a:r>
                <a:r>
                  <a:rPr lang="en-US" dirty="0"/>
                  <a:t> </a:t>
                </a:r>
                <a:r>
                  <a:rPr lang="en-US" dirty="0" err="1"/>
                  <a:t>גיאומטרית</a:t>
                </a:r>
                <a:r>
                  <a:rPr lang="en-US" dirty="0"/>
                  <a:t>' </a:t>
                </a:r>
                <a:r>
                  <a:rPr lang="en-US" dirty="0" err="1"/>
                  <a:t>חזקה</a:t>
                </a:r>
                <a:r>
                  <a:rPr lang="en-US" dirty="0"/>
                  <a:t> </a:t>
                </a:r>
                <a:r>
                  <a:rPr lang="en-US" dirty="0" err="1"/>
                  <a:t>ומשמעותית</a:t>
                </a:r>
                <a:r>
                  <a:rPr lang="en-US" dirty="0"/>
                  <a:t> </a:t>
                </a:r>
                <a:r>
                  <a:rPr lang="en-US" dirty="0" err="1"/>
                  <a:t>מאוד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המרחב</a:t>
                </a:r>
                <a:r>
                  <a:rPr lang="en-US" dirty="0"/>
                  <a:t>.</a:t>
                </a:r>
                <a:endParaRPr lang="he-IL" dirty="0"/>
              </a:p>
              <a:p>
                <a:pPr algn="r" rtl="1"/>
                <a:r>
                  <a:rPr lang="en-US" dirty="0" err="1"/>
                  <a:t>וכאן</a:t>
                </a:r>
                <a:r>
                  <a:rPr lang="en-US" dirty="0"/>
                  <a:t> </a:t>
                </a:r>
                <a:r>
                  <a:rPr lang="en-US" dirty="0" err="1"/>
                  <a:t>בדיוק</a:t>
                </a:r>
                <a:r>
                  <a:rPr lang="en-US" dirty="0"/>
                  <a:t> </a:t>
                </a:r>
                <a:r>
                  <a:rPr lang="en-US" dirty="0" err="1"/>
                  <a:t>נכנס</a:t>
                </a:r>
                <a:r>
                  <a:rPr lang="en-US" dirty="0"/>
                  <a:t> </a:t>
                </a:r>
                <a:r>
                  <a:rPr lang="en-US" dirty="0" err="1"/>
                  <a:t>הפרויקט</a:t>
                </a:r>
                <a:r>
                  <a:rPr lang="en-US" dirty="0"/>
                  <a:t> </a:t>
                </a:r>
                <a:r>
                  <a:rPr lang="en-US" dirty="0" err="1"/>
                  <a:t>שלי</a:t>
                </a:r>
                <a:r>
                  <a:rPr lang="en-US" dirty="0"/>
                  <a:t>. </a:t>
                </a:r>
                <a:r>
                  <a:rPr lang="en-US" dirty="0" err="1"/>
                  <a:t>המטרה</a:t>
                </a:r>
                <a:r>
                  <a:rPr lang="en-US" dirty="0"/>
                  <a:t> </a:t>
                </a:r>
                <a:r>
                  <a:rPr lang="en-US" dirty="0" err="1"/>
                  <a:t>שלי</a:t>
                </a:r>
                <a:r>
                  <a:rPr lang="en-US" dirty="0"/>
                  <a:t> </a:t>
                </a:r>
                <a:r>
                  <a:rPr lang="en-US" dirty="0" err="1"/>
                  <a:t>הייתה</a:t>
                </a:r>
                <a:r>
                  <a:rPr lang="en-US" dirty="0"/>
                  <a:t> </a:t>
                </a:r>
                <a:r>
                  <a:rPr lang="en-US" dirty="0" err="1"/>
                  <a:t>לקחת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הבעיה</a:t>
                </a:r>
                <a:r>
                  <a:rPr lang="en-US" dirty="0"/>
                  <a:t> </a:t>
                </a:r>
                <a:r>
                  <a:rPr lang="en-US" dirty="0" err="1"/>
                  <a:t>התיאורטית</a:t>
                </a:r>
                <a:r>
                  <a:rPr lang="en-US" dirty="0"/>
                  <a:t> </a:t>
                </a:r>
                <a:r>
                  <a:rPr lang="en-US" dirty="0" err="1"/>
                  <a:t>והרציפה</a:t>
                </a:r>
                <a:r>
                  <a:rPr lang="en-US" dirty="0"/>
                  <a:t> </a:t>
                </a:r>
                <a:r>
                  <a:rPr lang="en-US" dirty="0" err="1"/>
                  <a:t>הזו</a:t>
                </a:r>
                <a:r>
                  <a:rPr lang="en-US" dirty="0"/>
                  <a:t>, </a:t>
                </a:r>
                <a:r>
                  <a:rPr lang="en-US" dirty="0" err="1"/>
                  <a:t>ולתרגם</a:t>
                </a:r>
                <a:r>
                  <a:rPr lang="en-US" dirty="0"/>
                  <a:t> </a:t>
                </a:r>
                <a:r>
                  <a:rPr lang="en-US" dirty="0" err="1"/>
                  <a:t>אותה</a:t>
                </a:r>
                <a:r>
                  <a:rPr lang="en-US" dirty="0"/>
                  <a:t> </a:t>
                </a:r>
                <a:r>
                  <a:rPr lang="en-US" dirty="0" err="1"/>
                  <a:t>לעולם</a:t>
                </a:r>
                <a:r>
                  <a:rPr lang="en-US" dirty="0"/>
                  <a:t> </a:t>
                </a:r>
                <a:r>
                  <a:rPr lang="en-US" dirty="0" err="1"/>
                  <a:t>הדיגיטלי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ראייה</a:t>
                </a:r>
                <a:r>
                  <a:rPr lang="en-US" dirty="0"/>
                  <a:t> </a:t>
                </a:r>
                <a:r>
                  <a:rPr lang="en-US" dirty="0" err="1"/>
                  <a:t>ממוחשבת</a:t>
                </a:r>
                <a:r>
                  <a:rPr lang="en-US" dirty="0"/>
                  <a:t>. </a:t>
                </a:r>
                <a:r>
                  <a:rPr lang="en-US" dirty="0" err="1"/>
                  <a:t>השאלה</a:t>
                </a:r>
                <a:r>
                  <a:rPr lang="en-US" dirty="0"/>
                  <a:t> </a:t>
                </a:r>
                <a:r>
                  <a:rPr lang="en-US" dirty="0" err="1"/>
                  <a:t>שאנחנו</a:t>
                </a:r>
                <a:r>
                  <a:rPr lang="en-US" dirty="0"/>
                  <a:t> </a:t>
                </a:r>
                <a:r>
                  <a:rPr lang="en-US" dirty="0" err="1"/>
                  <a:t>מנסים</a:t>
                </a:r>
                <a:r>
                  <a:rPr lang="en-US" dirty="0"/>
                  <a:t> </a:t>
                </a:r>
                <a:r>
                  <a:rPr lang="en-US" dirty="0" err="1"/>
                  <a:t>לענות</a:t>
                </a:r>
                <a:r>
                  <a:rPr lang="en-US" dirty="0"/>
                  <a:t> </a:t>
                </a:r>
                <a:r>
                  <a:rPr lang="en-US" dirty="0" err="1"/>
                  <a:t>עליה</a:t>
                </a:r>
                <a:r>
                  <a:rPr lang="en-US" dirty="0"/>
                  <a:t> </a:t>
                </a:r>
                <a:r>
                  <a:rPr lang="en-US" dirty="0" err="1"/>
                  <a:t>כאן</a:t>
                </a:r>
                <a:r>
                  <a:rPr lang="en-US" dirty="0"/>
                  <a:t> </a:t>
                </a:r>
                <a:r>
                  <a:rPr lang="en-US" dirty="0" err="1"/>
                  <a:t>היא</a:t>
                </a:r>
                <a:r>
                  <a:rPr lang="en-US" dirty="0"/>
                  <a:t>: </a:t>
                </a:r>
                <a:r>
                  <a:rPr lang="en-US" dirty="0" err="1"/>
                  <a:t>אם</a:t>
                </a:r>
                <a:r>
                  <a:rPr lang="en-US" dirty="0"/>
                  <a:t> </a:t>
                </a:r>
                <a:r>
                  <a:rPr lang="en-US" dirty="0" err="1"/>
                  <a:t>ניקח</a:t>
                </a:r>
                <a:r>
                  <a:rPr lang="en-US" dirty="0"/>
                  <a:t> </a:t>
                </a:r>
                <a:r>
                  <a:rPr lang="en-US" dirty="0" err="1"/>
                  <a:t>תמונה</a:t>
                </a:r>
                <a:r>
                  <a:rPr lang="en-US" dirty="0"/>
                  <a:t> </a:t>
                </a:r>
                <a:r>
                  <a:rPr lang="en-US" dirty="0" err="1"/>
                  <a:t>דיגיטלית</a:t>
                </a:r>
                <a:r>
                  <a:rPr lang="en-US" dirty="0"/>
                  <a:t> </a:t>
                </a:r>
                <a:r>
                  <a:rPr lang="en-US" dirty="0" err="1"/>
                  <a:t>ונייצג</a:t>
                </a:r>
                <a:r>
                  <a:rPr lang="en-US" dirty="0"/>
                  <a:t> </a:t>
                </a:r>
                <a:r>
                  <a:rPr lang="en-US" dirty="0" err="1"/>
                  <a:t>אותה</a:t>
                </a:r>
                <a:r>
                  <a:rPr lang="en-US" dirty="0"/>
                  <a:t> </a:t>
                </a:r>
                <a:r>
                  <a:rPr lang="en-US" dirty="0" err="1"/>
                  <a:t>כגרף</a:t>
                </a:r>
                <a:r>
                  <a:rPr lang="en-US" dirty="0"/>
                  <a:t>, </a:t>
                </a:r>
                <a:r>
                  <a:rPr lang="en-US" dirty="0" err="1"/>
                  <a:t>האם</a:t>
                </a:r>
                <a:r>
                  <a:rPr lang="en-US" dirty="0"/>
                  <a:t> </a:t>
                </a:r>
                <a:r>
                  <a:rPr lang="en-US" dirty="0" err="1"/>
                  <a:t>הספקטרום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הלפלסיאן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הגרף</a:t>
                </a:r>
                <a:r>
                  <a:rPr lang="en-US" dirty="0"/>
                  <a:t> </a:t>
                </a:r>
                <a:r>
                  <a:rPr lang="en-US" dirty="0" err="1"/>
                  <a:t>הזה</a:t>
                </a:r>
                <a:r>
                  <a:rPr lang="en-US" dirty="0"/>
                  <a:t> </a:t>
                </a:r>
                <a:r>
                  <a:rPr lang="en-US" dirty="0" err="1"/>
                  <a:t>יכול</a:t>
                </a:r>
                <a:r>
                  <a:rPr lang="en-US" dirty="0"/>
                  <a:t> '</a:t>
                </a:r>
                <a:r>
                  <a:rPr lang="en-US" dirty="0" err="1"/>
                  <a:t>לשמוע</a:t>
                </a:r>
                <a:r>
                  <a:rPr lang="en-US" dirty="0"/>
                  <a:t>' – </a:t>
                </a:r>
                <a:r>
                  <a:rPr lang="en-US" dirty="0" err="1"/>
                  <a:t>או</a:t>
                </a:r>
                <a:r>
                  <a:rPr lang="en-US" dirty="0"/>
                  <a:t> </a:t>
                </a:r>
                <a:r>
                  <a:rPr lang="en-US" dirty="0" err="1"/>
                  <a:t>בעצם</a:t>
                </a:r>
                <a:r>
                  <a:rPr lang="en-US" dirty="0"/>
                  <a:t> </a:t>
                </a:r>
                <a:r>
                  <a:rPr lang="en-US" dirty="0" err="1"/>
                  <a:t>לחשוף</a:t>
                </a:r>
                <a:r>
                  <a:rPr lang="en-US" dirty="0"/>
                  <a:t> </a:t>
                </a:r>
                <a:r>
                  <a:rPr lang="en-US" dirty="0" err="1"/>
                  <a:t>בפנינו</a:t>
                </a:r>
                <a:r>
                  <a:rPr lang="en-US" dirty="0"/>
                  <a:t> –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הטקסטורה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התמונה</a:t>
                </a:r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5" name="Notes Placeholder 4"/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914400" y="3251200"/>
                <a:ext cx="7315200" cy="3081338"/>
              </a:xfrm>
              <a:prstGeom prst="rect">
                <a:avLst/>
              </a:prstGeom>
            </p:spPr>
            <p:txBody>
              <a:bodyPr vert="horz" lIns="91440" tIns="45720" rIns="91440" bIns="45720" rtlCol="0"/>
              <a:lstStyle/>
              <a:p>
                <a:pPr algn="r" rtl="1"/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הפרויקט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מתחיל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תיאורטית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בשנת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1966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המתמטיקאי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מארק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קאק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'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אפשר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לשמוע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צורה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?'.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קאק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שכאשר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ממברנה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רוטטת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מפיקה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טבעיים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מבחינה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מתמטית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האלו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בעצם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הערכים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העצמיים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𝜆_𝑛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אופרטור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הלפלסיאן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הרציף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𝛻^2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השאלה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שלו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ועמוקה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אוסף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התדרים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הספקטרום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מגדיר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בלעדי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וייחודי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הצורה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הגיאומטרית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התוף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he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US" dirty="0" err="1"/>
                  <a:t>התשובה</a:t>
                </a:r>
                <a:r>
                  <a:rPr lang="en-US" dirty="0"/>
                  <a:t>, </a:t>
                </a:r>
                <a:r>
                  <a:rPr lang="en-US" dirty="0" err="1"/>
                  <a:t>שהגיעה</a:t>
                </a:r>
                <a:r>
                  <a:rPr lang="en-US" dirty="0"/>
                  <a:t> </a:t>
                </a:r>
                <a:r>
                  <a:rPr lang="en-US" dirty="0" err="1"/>
                  <a:t>מאוחר</a:t>
                </a:r>
                <a:r>
                  <a:rPr lang="en-US" dirty="0"/>
                  <a:t> </a:t>
                </a:r>
                <a:r>
                  <a:rPr lang="en-US" dirty="0" err="1"/>
                  <a:t>יותר</a:t>
                </a:r>
                <a:r>
                  <a:rPr lang="en-US" dirty="0"/>
                  <a:t> </a:t>
                </a:r>
                <a:r>
                  <a:rPr lang="en-US" dirty="0" err="1"/>
                  <a:t>על</a:t>
                </a:r>
                <a:r>
                  <a:rPr lang="en-US" dirty="0"/>
                  <a:t> </a:t>
                </a:r>
                <a:r>
                  <a:rPr lang="en-US" dirty="0" err="1"/>
                  <a:t>ידי</a:t>
                </a:r>
                <a:r>
                  <a:rPr lang="en-US" dirty="0"/>
                  <a:t> </a:t>
                </a:r>
                <a:r>
                  <a:rPr lang="en-US" dirty="0" err="1"/>
                  <a:t>גורדון</a:t>
                </a:r>
                <a:r>
                  <a:rPr lang="en-US" dirty="0"/>
                  <a:t> ו-</a:t>
                </a:r>
                <a:r>
                  <a:rPr lang="en-US" dirty="0" err="1"/>
                  <a:t>ווב</a:t>
                </a:r>
                <a:r>
                  <a:rPr lang="en-US" dirty="0"/>
                  <a:t>, </a:t>
                </a:r>
                <a:r>
                  <a:rPr lang="en-US" dirty="0" err="1"/>
                  <a:t>הייתה</a:t>
                </a:r>
                <a:r>
                  <a:rPr lang="en-US" dirty="0"/>
                  <a:t> '</a:t>
                </a:r>
                <a:r>
                  <a:rPr lang="en-US" dirty="0" err="1"/>
                  <a:t>לא</a:t>
                </a:r>
                <a:r>
                  <a:rPr lang="en-US" dirty="0"/>
                  <a:t>'. </a:t>
                </a:r>
                <a:r>
                  <a:rPr lang="en-US" dirty="0" err="1"/>
                  <a:t>הם</a:t>
                </a:r>
                <a:r>
                  <a:rPr lang="en-US" dirty="0"/>
                  <a:t> </a:t>
                </a:r>
                <a:r>
                  <a:rPr lang="en-US" dirty="0" err="1"/>
                  <a:t>הוכיחו</a:t>
                </a:r>
                <a:r>
                  <a:rPr lang="en-US" dirty="0"/>
                  <a:t> </a:t>
                </a:r>
                <a:r>
                  <a:rPr lang="en-US" dirty="0" err="1"/>
                  <a:t>מתמטית</a:t>
                </a:r>
                <a:r>
                  <a:rPr lang="en-US" dirty="0"/>
                  <a:t> </a:t>
                </a:r>
                <a:r>
                  <a:rPr lang="en-US" dirty="0" err="1"/>
                  <a:t>שקיימים</a:t>
                </a:r>
                <a:r>
                  <a:rPr lang="en-US" dirty="0"/>
                  <a:t> </a:t>
                </a:r>
                <a:r>
                  <a:rPr lang="en-US" dirty="0" err="1"/>
                  <a:t>תופים</a:t>
                </a:r>
                <a:r>
                  <a:rPr lang="en-US" dirty="0"/>
                  <a:t> </a:t>
                </a:r>
                <a:r>
                  <a:rPr lang="en-US" dirty="0" err="1"/>
                  <a:t>בצורות</a:t>
                </a:r>
                <a:r>
                  <a:rPr lang="en-US" dirty="0"/>
                  <a:t> </a:t>
                </a:r>
                <a:r>
                  <a:rPr lang="en-US" dirty="0" err="1"/>
                  <a:t>שונות</a:t>
                </a:r>
                <a:r>
                  <a:rPr lang="en-US" dirty="0"/>
                  <a:t> </a:t>
                </a:r>
                <a:r>
                  <a:rPr lang="en-US" dirty="0" err="1"/>
                  <a:t>לחלוטין</a:t>
                </a:r>
                <a:r>
                  <a:rPr lang="en-US" dirty="0"/>
                  <a:t> </a:t>
                </a:r>
                <a:r>
                  <a:rPr lang="en-US" dirty="0" err="1"/>
                  <a:t>שמפיקים</a:t>
                </a:r>
                <a:r>
                  <a:rPr lang="en-US" dirty="0"/>
                  <a:t> </a:t>
                </a:r>
                <a:r>
                  <a:rPr lang="en-US" dirty="0" err="1"/>
                  <a:t>בדיוק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אותם</a:t>
                </a:r>
                <a:r>
                  <a:rPr lang="en-US" dirty="0"/>
                  <a:t> </a:t>
                </a:r>
                <a:r>
                  <a:rPr lang="en-US" dirty="0" err="1"/>
                  <a:t>הצלילים</a:t>
                </a:r>
                <a:r>
                  <a:rPr lang="en-US" dirty="0"/>
                  <a:t>. </a:t>
                </a:r>
                <a:r>
                  <a:rPr lang="en-US" dirty="0" err="1"/>
                  <a:t>אבל</a:t>
                </a:r>
                <a:r>
                  <a:rPr lang="en-US" dirty="0"/>
                  <a:t>, </a:t>
                </a:r>
                <a:r>
                  <a:rPr lang="en-US" dirty="0" err="1"/>
                  <a:t>למרות</a:t>
                </a:r>
                <a:r>
                  <a:rPr lang="en-US" dirty="0"/>
                  <a:t> </a:t>
                </a:r>
                <a:r>
                  <a:rPr lang="en-US" dirty="0" err="1"/>
                  <a:t>שלא</a:t>
                </a:r>
                <a:r>
                  <a:rPr lang="en-US" dirty="0"/>
                  <a:t> </a:t>
                </a:r>
                <a:r>
                  <a:rPr lang="en-US" dirty="0" err="1"/>
                  <a:t>תמיד</a:t>
                </a:r>
                <a:r>
                  <a:rPr lang="en-US" dirty="0"/>
                  <a:t> </a:t>
                </a:r>
                <a:r>
                  <a:rPr lang="en-US" dirty="0" err="1"/>
                  <a:t>אפשר</a:t>
                </a:r>
                <a:r>
                  <a:rPr lang="en-US" dirty="0"/>
                  <a:t> </a:t>
                </a:r>
                <a:r>
                  <a:rPr lang="en-US" dirty="0" err="1"/>
                  <a:t>לשחזר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הצורה</a:t>
                </a:r>
                <a:r>
                  <a:rPr lang="en-US" dirty="0"/>
                  <a:t> </a:t>
                </a:r>
                <a:r>
                  <a:rPr lang="en-US" dirty="0" err="1"/>
                  <a:t>המדויקת</a:t>
                </a:r>
                <a:r>
                  <a:rPr lang="en-US" dirty="0"/>
                  <a:t>, </a:t>
                </a:r>
                <a:r>
                  <a:rPr lang="en-US" dirty="0" err="1"/>
                  <a:t>הם</a:t>
                </a:r>
                <a:r>
                  <a:rPr lang="en-US" dirty="0"/>
                  <a:t> </a:t>
                </a:r>
                <a:r>
                  <a:rPr lang="en-US" dirty="0" err="1"/>
                  <a:t>הראו</a:t>
                </a:r>
                <a:r>
                  <a:rPr lang="en-US" dirty="0"/>
                  <a:t> </a:t>
                </a:r>
                <a:r>
                  <a:rPr lang="en-US" dirty="0" err="1"/>
                  <a:t>שהספקטרום</a:t>
                </a:r>
                <a:r>
                  <a:rPr lang="en-US" dirty="0"/>
                  <a:t> </a:t>
                </a:r>
                <a:r>
                  <a:rPr lang="en-US" dirty="0" err="1"/>
                  <a:t>הזה</a:t>
                </a:r>
                <a:r>
                  <a:rPr lang="en-US" dirty="0"/>
                  <a:t> </a:t>
                </a:r>
                <a:r>
                  <a:rPr lang="en-US" dirty="0" err="1"/>
                  <a:t>עדיין</a:t>
                </a:r>
                <a:r>
                  <a:rPr lang="en-US" dirty="0"/>
                  <a:t> </a:t>
                </a:r>
                <a:r>
                  <a:rPr lang="en-US" dirty="0" err="1"/>
                  <a:t>מהווה</a:t>
                </a:r>
                <a:r>
                  <a:rPr lang="en-US" dirty="0"/>
                  <a:t> '</a:t>
                </a:r>
                <a:r>
                  <a:rPr lang="en-US" dirty="0" err="1"/>
                  <a:t>חתימה</a:t>
                </a:r>
                <a:r>
                  <a:rPr lang="en-US" dirty="0"/>
                  <a:t> </a:t>
                </a:r>
                <a:r>
                  <a:rPr lang="en-US" dirty="0" err="1"/>
                  <a:t>גיאומטרית</a:t>
                </a:r>
                <a:r>
                  <a:rPr lang="en-US" dirty="0"/>
                  <a:t>' </a:t>
                </a:r>
                <a:r>
                  <a:rPr lang="en-US" dirty="0" err="1"/>
                  <a:t>חזקה</a:t>
                </a:r>
                <a:r>
                  <a:rPr lang="en-US" dirty="0"/>
                  <a:t> </a:t>
                </a:r>
                <a:r>
                  <a:rPr lang="en-US" dirty="0" err="1"/>
                  <a:t>ומשמעותית</a:t>
                </a:r>
                <a:r>
                  <a:rPr lang="en-US" dirty="0"/>
                  <a:t> </a:t>
                </a:r>
                <a:r>
                  <a:rPr lang="en-US" dirty="0" err="1"/>
                  <a:t>מאוד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המרחב</a:t>
                </a:r>
                <a:r>
                  <a:rPr lang="en-US" dirty="0"/>
                  <a:t>.</a:t>
                </a:r>
                <a:endParaRPr lang="he-IL" dirty="0"/>
              </a:p>
              <a:p>
                <a:pPr algn="r" rtl="1"/>
                <a:r>
                  <a:rPr lang="en-US" dirty="0" err="1"/>
                  <a:t>וכאן</a:t>
                </a:r>
                <a:r>
                  <a:rPr lang="en-US" dirty="0"/>
                  <a:t> </a:t>
                </a:r>
                <a:r>
                  <a:rPr lang="en-US" dirty="0" err="1"/>
                  <a:t>בדיוק</a:t>
                </a:r>
                <a:r>
                  <a:rPr lang="en-US" dirty="0"/>
                  <a:t> </a:t>
                </a:r>
                <a:r>
                  <a:rPr lang="en-US" dirty="0" err="1"/>
                  <a:t>נכנס</a:t>
                </a:r>
                <a:r>
                  <a:rPr lang="en-US" dirty="0"/>
                  <a:t> </a:t>
                </a:r>
                <a:r>
                  <a:rPr lang="en-US" dirty="0" err="1"/>
                  <a:t>הפרויקט</a:t>
                </a:r>
                <a:r>
                  <a:rPr lang="en-US" dirty="0"/>
                  <a:t> </a:t>
                </a:r>
                <a:r>
                  <a:rPr lang="en-US" dirty="0" err="1"/>
                  <a:t>שלי</a:t>
                </a:r>
                <a:r>
                  <a:rPr lang="en-US" dirty="0"/>
                  <a:t>. </a:t>
                </a:r>
                <a:r>
                  <a:rPr lang="en-US" dirty="0" err="1"/>
                  <a:t>המטרה</a:t>
                </a:r>
                <a:r>
                  <a:rPr lang="en-US" dirty="0"/>
                  <a:t> </a:t>
                </a:r>
                <a:r>
                  <a:rPr lang="en-US" dirty="0" err="1"/>
                  <a:t>שלי</a:t>
                </a:r>
                <a:r>
                  <a:rPr lang="en-US" dirty="0"/>
                  <a:t> </a:t>
                </a:r>
                <a:r>
                  <a:rPr lang="en-US" dirty="0" err="1"/>
                  <a:t>הייתה</a:t>
                </a:r>
                <a:r>
                  <a:rPr lang="en-US" dirty="0"/>
                  <a:t> </a:t>
                </a:r>
                <a:r>
                  <a:rPr lang="en-US" dirty="0" err="1"/>
                  <a:t>לקחת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הבעיה</a:t>
                </a:r>
                <a:r>
                  <a:rPr lang="en-US" dirty="0"/>
                  <a:t> </a:t>
                </a:r>
                <a:r>
                  <a:rPr lang="en-US" dirty="0" err="1"/>
                  <a:t>התיאורטית</a:t>
                </a:r>
                <a:r>
                  <a:rPr lang="en-US" dirty="0"/>
                  <a:t> </a:t>
                </a:r>
                <a:r>
                  <a:rPr lang="en-US" dirty="0" err="1"/>
                  <a:t>והרציפה</a:t>
                </a:r>
                <a:r>
                  <a:rPr lang="en-US" dirty="0"/>
                  <a:t> </a:t>
                </a:r>
                <a:r>
                  <a:rPr lang="en-US" dirty="0" err="1"/>
                  <a:t>הזו</a:t>
                </a:r>
                <a:r>
                  <a:rPr lang="en-US" dirty="0"/>
                  <a:t>, </a:t>
                </a:r>
                <a:r>
                  <a:rPr lang="en-US" dirty="0" err="1"/>
                  <a:t>ולתרגם</a:t>
                </a:r>
                <a:r>
                  <a:rPr lang="en-US" dirty="0"/>
                  <a:t> </a:t>
                </a:r>
                <a:r>
                  <a:rPr lang="en-US" dirty="0" err="1"/>
                  <a:t>אותה</a:t>
                </a:r>
                <a:r>
                  <a:rPr lang="en-US" dirty="0"/>
                  <a:t> </a:t>
                </a:r>
                <a:r>
                  <a:rPr lang="en-US" dirty="0" err="1"/>
                  <a:t>לעולם</a:t>
                </a:r>
                <a:r>
                  <a:rPr lang="en-US" dirty="0"/>
                  <a:t> </a:t>
                </a:r>
                <a:r>
                  <a:rPr lang="en-US" dirty="0" err="1"/>
                  <a:t>הדיגיטלי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ראייה</a:t>
                </a:r>
                <a:r>
                  <a:rPr lang="en-US" dirty="0"/>
                  <a:t> </a:t>
                </a:r>
                <a:r>
                  <a:rPr lang="en-US" dirty="0" err="1"/>
                  <a:t>ממוחשבת</a:t>
                </a:r>
                <a:r>
                  <a:rPr lang="en-US" dirty="0"/>
                  <a:t>. </a:t>
                </a:r>
                <a:r>
                  <a:rPr lang="en-US" dirty="0" err="1"/>
                  <a:t>השאלה</a:t>
                </a:r>
                <a:r>
                  <a:rPr lang="en-US" dirty="0"/>
                  <a:t> </a:t>
                </a:r>
                <a:r>
                  <a:rPr lang="en-US" dirty="0" err="1"/>
                  <a:t>שאנחנו</a:t>
                </a:r>
                <a:r>
                  <a:rPr lang="en-US" dirty="0"/>
                  <a:t> </a:t>
                </a:r>
                <a:r>
                  <a:rPr lang="en-US" dirty="0" err="1"/>
                  <a:t>מנסים</a:t>
                </a:r>
                <a:r>
                  <a:rPr lang="en-US" dirty="0"/>
                  <a:t> </a:t>
                </a:r>
                <a:r>
                  <a:rPr lang="en-US" dirty="0" err="1"/>
                  <a:t>לענות</a:t>
                </a:r>
                <a:r>
                  <a:rPr lang="en-US" dirty="0"/>
                  <a:t> </a:t>
                </a:r>
                <a:r>
                  <a:rPr lang="en-US" dirty="0" err="1"/>
                  <a:t>עליה</a:t>
                </a:r>
                <a:r>
                  <a:rPr lang="en-US" dirty="0"/>
                  <a:t> </a:t>
                </a:r>
                <a:r>
                  <a:rPr lang="en-US" dirty="0" err="1"/>
                  <a:t>כאן</a:t>
                </a:r>
                <a:r>
                  <a:rPr lang="en-US" dirty="0"/>
                  <a:t> </a:t>
                </a:r>
                <a:r>
                  <a:rPr lang="en-US" dirty="0" err="1"/>
                  <a:t>היא</a:t>
                </a:r>
                <a:r>
                  <a:rPr lang="en-US" dirty="0"/>
                  <a:t>: </a:t>
                </a:r>
                <a:r>
                  <a:rPr lang="en-US" dirty="0" err="1"/>
                  <a:t>אם</a:t>
                </a:r>
                <a:r>
                  <a:rPr lang="en-US" dirty="0"/>
                  <a:t> </a:t>
                </a:r>
                <a:r>
                  <a:rPr lang="en-US" dirty="0" err="1"/>
                  <a:t>ניקח</a:t>
                </a:r>
                <a:r>
                  <a:rPr lang="en-US" dirty="0"/>
                  <a:t> </a:t>
                </a:r>
                <a:r>
                  <a:rPr lang="en-US" dirty="0" err="1"/>
                  <a:t>תמונה</a:t>
                </a:r>
                <a:r>
                  <a:rPr lang="en-US" dirty="0"/>
                  <a:t> </a:t>
                </a:r>
                <a:r>
                  <a:rPr lang="en-US" dirty="0" err="1"/>
                  <a:t>דיגיטלית</a:t>
                </a:r>
                <a:r>
                  <a:rPr lang="en-US" dirty="0"/>
                  <a:t> </a:t>
                </a:r>
                <a:r>
                  <a:rPr lang="en-US" dirty="0" err="1"/>
                  <a:t>ונייצג</a:t>
                </a:r>
                <a:r>
                  <a:rPr lang="en-US" dirty="0"/>
                  <a:t> </a:t>
                </a:r>
                <a:r>
                  <a:rPr lang="en-US" dirty="0" err="1"/>
                  <a:t>אותה</a:t>
                </a:r>
                <a:r>
                  <a:rPr lang="en-US" dirty="0"/>
                  <a:t> </a:t>
                </a:r>
                <a:r>
                  <a:rPr lang="en-US" dirty="0" err="1"/>
                  <a:t>כגרף</a:t>
                </a:r>
                <a:r>
                  <a:rPr lang="en-US" dirty="0"/>
                  <a:t>, </a:t>
                </a:r>
                <a:r>
                  <a:rPr lang="en-US" dirty="0" err="1"/>
                  <a:t>האם</a:t>
                </a:r>
                <a:r>
                  <a:rPr lang="en-US" dirty="0"/>
                  <a:t> </a:t>
                </a:r>
                <a:r>
                  <a:rPr lang="en-US" dirty="0" err="1"/>
                  <a:t>הספקטרום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הלפלסיאן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הגרף</a:t>
                </a:r>
                <a:r>
                  <a:rPr lang="en-US" dirty="0"/>
                  <a:t> </a:t>
                </a:r>
                <a:r>
                  <a:rPr lang="en-US" dirty="0" err="1"/>
                  <a:t>הזה</a:t>
                </a:r>
                <a:r>
                  <a:rPr lang="en-US" dirty="0"/>
                  <a:t> </a:t>
                </a:r>
                <a:r>
                  <a:rPr lang="en-US" dirty="0" err="1"/>
                  <a:t>יכול</a:t>
                </a:r>
                <a:r>
                  <a:rPr lang="en-US" dirty="0"/>
                  <a:t> '</a:t>
                </a:r>
                <a:r>
                  <a:rPr lang="en-US" dirty="0" err="1"/>
                  <a:t>לשמוע</a:t>
                </a:r>
                <a:r>
                  <a:rPr lang="en-US" dirty="0"/>
                  <a:t>' – </a:t>
                </a:r>
                <a:r>
                  <a:rPr lang="en-US" dirty="0" err="1"/>
                  <a:t>או</a:t>
                </a:r>
                <a:r>
                  <a:rPr lang="en-US" dirty="0"/>
                  <a:t> </a:t>
                </a:r>
                <a:r>
                  <a:rPr lang="en-US" dirty="0" err="1"/>
                  <a:t>בעצם</a:t>
                </a:r>
                <a:r>
                  <a:rPr lang="en-US" dirty="0"/>
                  <a:t> </a:t>
                </a:r>
                <a:r>
                  <a:rPr lang="en-US" dirty="0" err="1"/>
                  <a:t>לחשוף</a:t>
                </a:r>
                <a:r>
                  <a:rPr lang="en-US" dirty="0"/>
                  <a:t> </a:t>
                </a:r>
                <a:r>
                  <a:rPr lang="en-US" dirty="0" err="1"/>
                  <a:t>בפנינו</a:t>
                </a:r>
                <a:r>
                  <a:rPr lang="en-US" dirty="0"/>
                  <a:t> –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הטקסטורה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התמונה</a:t>
                </a:r>
                <a:r>
                  <a:rPr lang="en-US" dirty="0"/>
                  <a:t>?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dirty="0" err="1"/>
              <a:t>אז</a:t>
            </a:r>
            <a:r>
              <a:rPr lang="en-US" dirty="0"/>
              <a:t> </a:t>
            </a:r>
            <a:r>
              <a:rPr lang="en-US" dirty="0" err="1"/>
              <a:t>איך</a:t>
            </a:r>
            <a:r>
              <a:rPr lang="en-US" dirty="0"/>
              <a:t>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בעצם</a:t>
            </a:r>
            <a:r>
              <a:rPr lang="en-US" dirty="0"/>
              <a:t> </a:t>
            </a:r>
            <a:r>
              <a:rPr lang="en-US" dirty="0" err="1"/>
              <a:t>מיישמים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התיאוריה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תמונות</a:t>
            </a:r>
            <a:r>
              <a:rPr lang="en-US" dirty="0"/>
              <a:t>? </a:t>
            </a:r>
            <a:r>
              <a:rPr lang="en-US" dirty="0" err="1"/>
              <a:t>הצעד</a:t>
            </a:r>
            <a:r>
              <a:rPr lang="en-US" dirty="0"/>
              <a:t> </a:t>
            </a:r>
            <a:r>
              <a:rPr lang="en-US" dirty="0" err="1"/>
              <a:t>הראשון</a:t>
            </a:r>
            <a:r>
              <a:rPr lang="en-US" dirty="0"/>
              <a:t> </a:t>
            </a:r>
            <a:r>
              <a:rPr lang="en-US" dirty="0" err="1"/>
              <a:t>הוא</a:t>
            </a:r>
            <a:r>
              <a:rPr lang="en-US" dirty="0"/>
              <a:t> </a:t>
            </a:r>
            <a:r>
              <a:rPr lang="en-US" dirty="0" err="1"/>
              <a:t>לתרגם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התמונה</a:t>
            </a:r>
            <a:r>
              <a:rPr lang="en-US" dirty="0"/>
              <a:t> </a:t>
            </a:r>
            <a:r>
              <a:rPr lang="en-US" dirty="0" err="1"/>
              <a:t>למבנה</a:t>
            </a:r>
            <a:r>
              <a:rPr lang="en-US" dirty="0"/>
              <a:t> </a:t>
            </a:r>
            <a:r>
              <a:rPr lang="en-US" dirty="0" err="1"/>
              <a:t>מתמטי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en-US" dirty="0"/>
              <a:t> </a:t>
            </a:r>
            <a:r>
              <a:rPr lang="en-US" dirty="0" err="1"/>
              <a:t>גרף</a:t>
            </a:r>
            <a:r>
              <a:rPr lang="en-US" dirty="0"/>
              <a:t>.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לוקחים</a:t>
            </a:r>
            <a:r>
              <a:rPr lang="en-US" dirty="0"/>
              <a:t> </a:t>
            </a:r>
            <a:r>
              <a:rPr lang="en-US" dirty="0" err="1"/>
              <a:t>כל</a:t>
            </a:r>
            <a:r>
              <a:rPr lang="en-US" dirty="0"/>
              <a:t> </a:t>
            </a:r>
            <a:r>
              <a:rPr lang="en-US" dirty="0" err="1"/>
              <a:t>פיקסל</a:t>
            </a:r>
            <a:r>
              <a:rPr lang="en-US" dirty="0"/>
              <a:t> </a:t>
            </a:r>
            <a:r>
              <a:rPr lang="en-US" dirty="0" err="1"/>
              <a:t>בודד</a:t>
            </a:r>
            <a:r>
              <a:rPr lang="en-US" dirty="0"/>
              <a:t> </a:t>
            </a:r>
            <a:r>
              <a:rPr lang="en-US" dirty="0" err="1"/>
              <a:t>בתמונה</a:t>
            </a:r>
            <a:r>
              <a:rPr lang="en-US" dirty="0"/>
              <a:t>, </a:t>
            </a:r>
            <a:r>
              <a:rPr lang="en-US" dirty="0" err="1"/>
              <a:t>ומתייחסים</a:t>
            </a:r>
            <a:r>
              <a:rPr lang="en-US" dirty="0"/>
              <a:t> </a:t>
            </a:r>
            <a:r>
              <a:rPr lang="en-US" dirty="0" err="1"/>
              <a:t>אליו</a:t>
            </a:r>
            <a:r>
              <a:rPr lang="en-US" dirty="0"/>
              <a:t> </a:t>
            </a:r>
            <a:r>
              <a:rPr lang="en-US" dirty="0" err="1"/>
              <a:t>כאל</a:t>
            </a:r>
            <a:r>
              <a:rPr lang="en-US" dirty="0"/>
              <a:t> </a:t>
            </a:r>
            <a:r>
              <a:rPr lang="en-US" dirty="0" err="1"/>
              <a:t>צומת</a:t>
            </a:r>
            <a:r>
              <a:rPr lang="en-US" dirty="0"/>
              <a:t>, </a:t>
            </a:r>
            <a:r>
              <a:rPr lang="en-US" dirty="0" err="1"/>
              <a:t>או</a:t>
            </a:r>
            <a:r>
              <a:rPr lang="en-US" dirty="0"/>
              <a:t> </a:t>
            </a:r>
            <a:r>
              <a:rPr lang="en-US" dirty="0" err="1"/>
              <a:t>קודקוד</a:t>
            </a:r>
            <a:r>
              <a:rPr lang="en-US" dirty="0"/>
              <a:t>, </a:t>
            </a:r>
            <a:r>
              <a:rPr lang="en-US" dirty="0" err="1"/>
              <a:t>בגרף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כדי</a:t>
            </a:r>
            <a:r>
              <a:rPr lang="en-US" dirty="0"/>
              <a:t> </a:t>
            </a:r>
            <a:r>
              <a:rPr lang="en-US" dirty="0" err="1"/>
              <a:t>לחבר</a:t>
            </a:r>
            <a:r>
              <a:rPr lang="en-US" dirty="0"/>
              <a:t> </a:t>
            </a:r>
            <a:r>
              <a:rPr lang="en-US" dirty="0" err="1"/>
              <a:t>ביניהם</a:t>
            </a:r>
            <a:r>
              <a:rPr lang="en-US" dirty="0"/>
              <a:t>,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יוצרים</a:t>
            </a:r>
            <a:r>
              <a:rPr lang="en-US" dirty="0"/>
              <a:t> </a:t>
            </a:r>
            <a:r>
              <a:rPr lang="en-US" dirty="0" err="1"/>
              <a:t>צלעות</a:t>
            </a:r>
            <a:r>
              <a:rPr lang="en-US" dirty="0"/>
              <a:t> </a:t>
            </a:r>
            <a:r>
              <a:rPr lang="en-US" dirty="0" err="1"/>
              <a:t>בין</a:t>
            </a:r>
            <a:r>
              <a:rPr lang="en-US" dirty="0"/>
              <a:t> </a:t>
            </a:r>
            <a:r>
              <a:rPr lang="en-US" dirty="0" err="1"/>
              <a:t>כל</a:t>
            </a:r>
            <a:r>
              <a:rPr lang="en-US" dirty="0"/>
              <a:t> </a:t>
            </a:r>
            <a:r>
              <a:rPr lang="en-US" dirty="0" err="1"/>
              <a:t>פיקסל</a:t>
            </a:r>
            <a:r>
              <a:rPr lang="en-US" dirty="0"/>
              <a:t> ל-8 </a:t>
            </a:r>
            <a:r>
              <a:rPr lang="en-US" dirty="0" err="1"/>
              <a:t>השכנים</a:t>
            </a:r>
            <a:r>
              <a:rPr lang="en-US" dirty="0"/>
              <a:t> </a:t>
            </a:r>
            <a:r>
              <a:rPr lang="en-US" dirty="0" err="1"/>
              <a:t>הקרובים</a:t>
            </a:r>
            <a:r>
              <a:rPr lang="en-US" dirty="0"/>
              <a:t> </a:t>
            </a:r>
            <a:r>
              <a:rPr lang="en-US" dirty="0" err="1"/>
              <a:t>שלו</a:t>
            </a:r>
            <a:r>
              <a:rPr lang="en-US" dirty="0"/>
              <a:t>. </a:t>
            </a:r>
            <a:r>
              <a:rPr lang="en-US" dirty="0" err="1"/>
              <a:t>אבל</a:t>
            </a:r>
            <a:r>
              <a:rPr lang="en-US" dirty="0"/>
              <a:t> </a:t>
            </a:r>
            <a:r>
              <a:rPr lang="en-US" dirty="0" err="1"/>
              <a:t>החיבור</a:t>
            </a:r>
            <a:r>
              <a:rPr lang="en-US" dirty="0"/>
              <a:t> </a:t>
            </a:r>
            <a:r>
              <a:rPr lang="en-US" dirty="0" err="1"/>
              <a:t>הזה</a:t>
            </a:r>
            <a:r>
              <a:rPr lang="en-US" dirty="0"/>
              <a:t> </a:t>
            </a:r>
            <a:r>
              <a:rPr lang="en-US" dirty="0" err="1"/>
              <a:t>הוא</a:t>
            </a:r>
            <a:r>
              <a:rPr lang="en-US" dirty="0"/>
              <a:t> </a:t>
            </a:r>
            <a:r>
              <a:rPr lang="en-US" dirty="0" err="1"/>
              <a:t>לא</a:t>
            </a:r>
            <a:r>
              <a:rPr lang="en-US" dirty="0"/>
              <a:t> </a:t>
            </a:r>
            <a:r>
              <a:rPr lang="en-US" dirty="0" err="1"/>
              <a:t>בינארי</a:t>
            </a:r>
            <a:r>
              <a:rPr lang="en-US" dirty="0"/>
              <a:t>.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נותנים</a:t>
            </a:r>
            <a:r>
              <a:rPr lang="en-US" dirty="0"/>
              <a:t> </a:t>
            </a:r>
            <a:r>
              <a:rPr lang="en-US" dirty="0" err="1"/>
              <a:t>משקל</a:t>
            </a:r>
            <a:r>
              <a:rPr lang="en-US" dirty="0"/>
              <a:t> </a:t>
            </a:r>
            <a:r>
              <a:rPr lang="en-US" dirty="0" err="1"/>
              <a:t>לכל</a:t>
            </a:r>
            <a:r>
              <a:rPr lang="en-US" dirty="0"/>
              <a:t> </a:t>
            </a:r>
            <a:r>
              <a:rPr lang="en-US" dirty="0" err="1"/>
              <a:t>צלע</a:t>
            </a:r>
            <a:r>
              <a:rPr lang="en-US" dirty="0"/>
              <a:t> </a:t>
            </a:r>
            <a:r>
              <a:rPr lang="en-US" dirty="0" err="1"/>
              <a:t>באמצעות</a:t>
            </a:r>
            <a:r>
              <a:rPr lang="en-US" dirty="0"/>
              <a:t> </a:t>
            </a:r>
            <a:r>
              <a:rPr lang="en-US" dirty="0" err="1"/>
              <a:t>פונקציית</a:t>
            </a:r>
            <a:r>
              <a:rPr lang="en-US" dirty="0"/>
              <a:t> </a:t>
            </a:r>
            <a:r>
              <a:rPr lang="en-US" dirty="0" err="1"/>
              <a:t>גרעין</a:t>
            </a:r>
            <a:r>
              <a:rPr lang="en-US" dirty="0"/>
              <a:t> </a:t>
            </a:r>
            <a:r>
              <a:rPr lang="en-US" dirty="0" err="1"/>
              <a:t>גאוסית</a:t>
            </a:r>
            <a:r>
              <a:rPr lang="en-US" dirty="0"/>
              <a:t>, </a:t>
            </a:r>
            <a:r>
              <a:rPr lang="en-US" dirty="0" err="1"/>
              <a:t>שמבוססת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ההפרשים</a:t>
            </a:r>
            <a:r>
              <a:rPr lang="en-US" dirty="0"/>
              <a:t> </a:t>
            </a:r>
            <a:r>
              <a:rPr lang="en-US" dirty="0" err="1"/>
              <a:t>בעוצמת</a:t>
            </a:r>
            <a:r>
              <a:rPr lang="en-US" dirty="0"/>
              <a:t> </a:t>
            </a:r>
            <a:r>
              <a:rPr lang="en-US" dirty="0" err="1"/>
              <a:t>הבהירות</a:t>
            </a:r>
            <a:r>
              <a:rPr lang="en-US" dirty="0"/>
              <a:t> </a:t>
            </a:r>
            <a:r>
              <a:rPr lang="en-US" dirty="0" err="1"/>
              <a:t>בין</a:t>
            </a:r>
            <a:r>
              <a:rPr lang="en-US" dirty="0"/>
              <a:t> </a:t>
            </a:r>
            <a:r>
              <a:rPr lang="en-US" dirty="0" err="1"/>
              <a:t>הפיקסלים</a:t>
            </a:r>
            <a:r>
              <a:rPr lang="en-US" dirty="0"/>
              <a:t>. </a:t>
            </a:r>
            <a:r>
              <a:rPr lang="en-US" dirty="0" err="1"/>
              <a:t>מה</a:t>
            </a:r>
            <a:r>
              <a:rPr lang="en-US" dirty="0"/>
              <a:t> </a:t>
            </a:r>
            <a:r>
              <a:rPr lang="en-US" dirty="0" err="1"/>
              <a:t>שזה</a:t>
            </a:r>
            <a:r>
              <a:rPr lang="en-US" dirty="0"/>
              <a:t> </a:t>
            </a:r>
            <a:r>
              <a:rPr lang="en-US" dirty="0" err="1"/>
              <a:t>אומר</a:t>
            </a:r>
            <a:r>
              <a:rPr lang="en-US" dirty="0"/>
              <a:t> </a:t>
            </a:r>
            <a:r>
              <a:rPr lang="en-US" dirty="0" err="1"/>
              <a:t>בפועל</a:t>
            </a:r>
            <a:r>
              <a:rPr lang="en-US" dirty="0"/>
              <a:t> </a:t>
            </a:r>
            <a:r>
              <a:rPr lang="en-US" dirty="0" err="1"/>
              <a:t>הוא</a:t>
            </a:r>
            <a:r>
              <a:rPr lang="en-US" dirty="0"/>
              <a:t> </a:t>
            </a:r>
            <a:r>
              <a:rPr lang="en-US" dirty="0" err="1"/>
              <a:t>שבאזורים</a:t>
            </a:r>
            <a:r>
              <a:rPr lang="en-US" dirty="0"/>
              <a:t> </a:t>
            </a:r>
            <a:r>
              <a:rPr lang="en-US" dirty="0" err="1"/>
              <a:t>חלקים</a:t>
            </a:r>
            <a:r>
              <a:rPr lang="en-US" dirty="0"/>
              <a:t> </a:t>
            </a:r>
            <a:r>
              <a:rPr lang="en-US" dirty="0" err="1"/>
              <a:t>בתמונה</a:t>
            </a:r>
            <a:r>
              <a:rPr lang="en-US" dirty="0"/>
              <a:t>, </a:t>
            </a:r>
            <a:r>
              <a:rPr lang="en-US" dirty="0" err="1"/>
              <a:t>שבהם</a:t>
            </a:r>
            <a:r>
              <a:rPr lang="en-US" dirty="0"/>
              <a:t> </a:t>
            </a:r>
            <a:r>
              <a:rPr lang="en-US" dirty="0" err="1"/>
              <a:t>הפיקסלים</a:t>
            </a:r>
            <a:r>
              <a:rPr lang="en-US" dirty="0"/>
              <a:t> </a:t>
            </a:r>
            <a:r>
              <a:rPr lang="en-US" dirty="0" err="1"/>
              <a:t>דומים</a:t>
            </a:r>
            <a:r>
              <a:rPr lang="en-US" dirty="0"/>
              <a:t>, </a:t>
            </a:r>
            <a:r>
              <a:rPr lang="en-US" dirty="0" err="1"/>
              <a:t>החיבור</a:t>
            </a:r>
            <a:r>
              <a:rPr lang="en-US" dirty="0"/>
              <a:t> </a:t>
            </a:r>
            <a:r>
              <a:rPr lang="en-US" dirty="0" err="1"/>
              <a:t>יהיה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</a:t>
            </a:r>
            <a:r>
              <a:rPr lang="en-US" dirty="0" err="1"/>
              <a:t>חזק</a:t>
            </a:r>
            <a:r>
              <a:rPr lang="en-US" dirty="0"/>
              <a:t>. </a:t>
            </a:r>
            <a:r>
              <a:rPr lang="en-US" dirty="0" err="1"/>
              <a:t>לעומת</a:t>
            </a:r>
            <a:r>
              <a:rPr lang="en-US" dirty="0"/>
              <a:t> </a:t>
            </a:r>
            <a:r>
              <a:rPr lang="en-US" dirty="0" err="1"/>
              <a:t>זאת</a:t>
            </a:r>
            <a:r>
              <a:rPr lang="en-US" dirty="0"/>
              <a:t>, </a:t>
            </a:r>
            <a:r>
              <a:rPr lang="en-US" dirty="0" err="1"/>
              <a:t>כשיש</a:t>
            </a:r>
            <a:r>
              <a:rPr lang="en-US" dirty="0"/>
              <a:t> </a:t>
            </a:r>
            <a:r>
              <a:rPr lang="en-US" dirty="0" err="1"/>
              <a:t>שינויים</a:t>
            </a:r>
            <a:r>
              <a:rPr lang="en-US" dirty="0"/>
              <a:t> </a:t>
            </a:r>
            <a:r>
              <a:rPr lang="en-US" dirty="0" err="1"/>
              <a:t>חדים</a:t>
            </a:r>
            <a:r>
              <a:rPr lang="en-US" dirty="0"/>
              <a:t> </a:t>
            </a:r>
            <a:r>
              <a:rPr lang="en-US" dirty="0" err="1"/>
              <a:t>או</a:t>
            </a:r>
            <a:r>
              <a:rPr lang="en-US" dirty="0"/>
              <a:t> </a:t>
            </a:r>
            <a:r>
              <a:rPr lang="en-US" dirty="0" err="1"/>
              <a:t>רעש</a:t>
            </a:r>
            <a:r>
              <a:rPr lang="en-US" dirty="0"/>
              <a:t> – </a:t>
            </a:r>
            <a:r>
              <a:rPr lang="en-US" dirty="0" err="1"/>
              <a:t>המשקל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en-US" dirty="0"/>
              <a:t> </a:t>
            </a:r>
            <a:r>
              <a:rPr lang="en-US" dirty="0" err="1"/>
              <a:t>הצלע</a:t>
            </a:r>
            <a:r>
              <a:rPr lang="en-US" dirty="0"/>
              <a:t> </a:t>
            </a:r>
            <a:r>
              <a:rPr lang="en-US" dirty="0" err="1"/>
              <a:t>יהיה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</a:t>
            </a:r>
            <a:r>
              <a:rPr lang="en-US" dirty="0" err="1"/>
              <a:t>חלש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ברגע</a:t>
            </a:r>
            <a:r>
              <a:rPr lang="en-US" dirty="0"/>
              <a:t> </a:t>
            </a:r>
            <a:r>
              <a:rPr lang="en-US" dirty="0" err="1"/>
              <a:t>שיש</a:t>
            </a:r>
            <a:r>
              <a:rPr lang="en-US" dirty="0"/>
              <a:t> </a:t>
            </a:r>
            <a:r>
              <a:rPr lang="en-US" dirty="0" err="1"/>
              <a:t>לנו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הגרף</a:t>
            </a:r>
            <a:r>
              <a:rPr lang="en-US" dirty="0"/>
              <a:t> </a:t>
            </a:r>
            <a:r>
              <a:rPr lang="en-US" dirty="0" err="1"/>
              <a:t>הממושקל</a:t>
            </a:r>
            <a:r>
              <a:rPr lang="en-US" dirty="0"/>
              <a:t> </a:t>
            </a:r>
            <a:r>
              <a:rPr lang="en-US" dirty="0" err="1"/>
              <a:t>הזה</a:t>
            </a:r>
            <a:r>
              <a:rPr lang="en-US" dirty="0"/>
              <a:t>,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בונים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מטריצת</a:t>
            </a:r>
            <a:r>
              <a:rPr lang="en-US" dirty="0"/>
              <a:t> </a:t>
            </a:r>
            <a:r>
              <a:rPr lang="en-US" dirty="0" err="1"/>
              <a:t>הלפלסיאן</a:t>
            </a:r>
            <a:r>
              <a:rPr lang="en-US" dirty="0"/>
              <a:t> </a:t>
            </a:r>
            <a:r>
              <a:rPr lang="en-US" dirty="0" err="1"/>
              <a:t>שלו</a:t>
            </a:r>
            <a:r>
              <a:rPr lang="en-US" dirty="0"/>
              <a:t>. </a:t>
            </a:r>
            <a:r>
              <a:rPr lang="en-US" dirty="0" err="1"/>
              <a:t>מכיוון</a:t>
            </a:r>
            <a:r>
              <a:rPr lang="en-US" dirty="0"/>
              <a:t> </a:t>
            </a:r>
            <a:r>
              <a:rPr lang="en-US" dirty="0" err="1"/>
              <a:t>שאנחנו</a:t>
            </a:r>
            <a:r>
              <a:rPr lang="en-US" dirty="0"/>
              <a:t> </a:t>
            </a:r>
            <a:r>
              <a:rPr lang="en-US" dirty="0" err="1"/>
              <a:t>רוצים</a:t>
            </a:r>
            <a:r>
              <a:rPr lang="en-US" dirty="0"/>
              <a:t> </a:t>
            </a:r>
            <a:r>
              <a:rPr lang="en-US" dirty="0" err="1"/>
              <a:t>להשוות</a:t>
            </a:r>
            <a:r>
              <a:rPr lang="en-US" dirty="0"/>
              <a:t> </a:t>
            </a:r>
            <a:r>
              <a:rPr lang="en-US" dirty="0" err="1"/>
              <a:t>בין</a:t>
            </a:r>
            <a:r>
              <a:rPr lang="en-US" dirty="0"/>
              <a:t> </a:t>
            </a:r>
            <a:r>
              <a:rPr lang="en-US" dirty="0" err="1"/>
              <a:t>טקסטורות</a:t>
            </a:r>
            <a:r>
              <a:rPr lang="en-US" dirty="0"/>
              <a:t> </a:t>
            </a:r>
            <a:r>
              <a:rPr lang="en-US" dirty="0" err="1"/>
              <a:t>שונות</a:t>
            </a:r>
            <a:r>
              <a:rPr lang="en-US" dirty="0"/>
              <a:t> </a:t>
            </a:r>
            <a:r>
              <a:rPr lang="en-US" dirty="0" err="1"/>
              <a:t>בצורה</a:t>
            </a:r>
            <a:r>
              <a:rPr lang="en-US" dirty="0"/>
              <a:t> </a:t>
            </a:r>
            <a:r>
              <a:rPr lang="en-US" dirty="0" err="1"/>
              <a:t>אמינה</a:t>
            </a:r>
            <a:r>
              <a:rPr lang="en-US" dirty="0"/>
              <a:t>,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לא</a:t>
            </a:r>
            <a:r>
              <a:rPr lang="en-US" dirty="0"/>
              <a:t> </a:t>
            </a:r>
            <a:r>
              <a:rPr lang="en-US" dirty="0" err="1"/>
              <a:t>משתמשים</a:t>
            </a:r>
            <a:r>
              <a:rPr lang="en-US" dirty="0"/>
              <a:t> </a:t>
            </a:r>
            <a:r>
              <a:rPr lang="en-US" dirty="0" err="1"/>
              <a:t>בלפלסיאן</a:t>
            </a:r>
            <a:r>
              <a:rPr lang="en-US" dirty="0"/>
              <a:t> </a:t>
            </a:r>
            <a:r>
              <a:rPr lang="en-US" dirty="0" err="1"/>
              <a:t>רגיל</a:t>
            </a:r>
            <a:r>
              <a:rPr lang="en-US" dirty="0"/>
              <a:t>, </a:t>
            </a:r>
            <a:r>
              <a:rPr lang="en-US" dirty="0" err="1"/>
              <a:t>אלא</a:t>
            </a:r>
            <a:r>
              <a:rPr lang="en-US" dirty="0"/>
              <a:t> </a:t>
            </a:r>
            <a:r>
              <a:rPr lang="en-US" dirty="0" err="1"/>
              <a:t>בלפלסיאן</a:t>
            </a:r>
            <a:r>
              <a:rPr lang="en-US" dirty="0"/>
              <a:t> </a:t>
            </a:r>
            <a:r>
              <a:rPr lang="en-US" dirty="0" err="1"/>
              <a:t>מנורמל</a:t>
            </a:r>
            <a:r>
              <a:rPr lang="en-US" dirty="0"/>
              <a:t> </a:t>
            </a:r>
            <a:r>
              <a:rPr lang="en-US" dirty="0" err="1"/>
              <a:t>סימטרי</a:t>
            </a:r>
            <a:r>
              <a:rPr lang="en-US" dirty="0"/>
              <a:t>. </a:t>
            </a:r>
            <a:r>
              <a:rPr lang="en-US" dirty="0" err="1"/>
              <a:t>הפעולה</a:t>
            </a:r>
            <a:r>
              <a:rPr lang="en-US" dirty="0"/>
              <a:t> </a:t>
            </a:r>
            <a:r>
              <a:rPr lang="en-US" dirty="0" err="1"/>
              <a:t>המתמטית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חוסמת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כל</a:t>
            </a:r>
            <a:r>
              <a:rPr lang="en-US" dirty="0"/>
              <a:t> </a:t>
            </a:r>
            <a:r>
              <a:rPr lang="en-US" dirty="0" err="1"/>
              <a:t>הערכים</a:t>
            </a:r>
            <a:r>
              <a:rPr lang="en-US" dirty="0"/>
              <a:t> </a:t>
            </a:r>
            <a:r>
              <a:rPr lang="en-US" dirty="0" err="1"/>
              <a:t>העצמיים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</a:t>
            </a:r>
            <a:r>
              <a:rPr lang="en-US" dirty="0" err="1"/>
              <a:t>לטווח</a:t>
            </a:r>
            <a:r>
              <a:rPr lang="en-US" dirty="0"/>
              <a:t> </a:t>
            </a:r>
            <a:r>
              <a:rPr lang="en-US" dirty="0" err="1"/>
              <a:t>שבין</a:t>
            </a:r>
            <a:r>
              <a:rPr lang="en-US" dirty="0"/>
              <a:t> 0 ל-2, </a:t>
            </a:r>
            <a:r>
              <a:rPr lang="en-US" dirty="0" err="1"/>
              <a:t>וכך</a:t>
            </a:r>
            <a:r>
              <a:rPr lang="en-US" dirty="0"/>
              <a:t>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מקבלים</a:t>
            </a:r>
            <a:r>
              <a:rPr lang="en-US" dirty="0"/>
              <a:t> </a:t>
            </a:r>
            <a:r>
              <a:rPr lang="en-US" dirty="0" err="1"/>
              <a:t>חתימה</a:t>
            </a:r>
            <a:r>
              <a:rPr lang="en-US" dirty="0"/>
              <a:t> </a:t>
            </a:r>
            <a:r>
              <a:rPr lang="en-US" dirty="0" err="1"/>
              <a:t>ספקטרלית</a:t>
            </a:r>
            <a:r>
              <a:rPr lang="en-US" dirty="0"/>
              <a:t> </a:t>
            </a:r>
            <a:r>
              <a:rPr lang="en-US" dirty="0" err="1"/>
              <a:t>יציבה</a:t>
            </a:r>
            <a:r>
              <a:rPr lang="en-US" dirty="0"/>
              <a:t> </a:t>
            </a:r>
            <a:r>
              <a:rPr lang="en-US" dirty="0" err="1"/>
              <a:t>ואמינה</a:t>
            </a:r>
            <a:r>
              <a:rPr lang="en-US" dirty="0"/>
              <a:t> </a:t>
            </a:r>
            <a:r>
              <a:rPr lang="en-US" dirty="0" err="1"/>
              <a:t>שאפשר</a:t>
            </a:r>
            <a:r>
              <a:rPr lang="en-US" dirty="0"/>
              <a:t> </a:t>
            </a:r>
            <a:r>
              <a:rPr lang="en-US" dirty="0" err="1"/>
              <a:t>לעבוד</a:t>
            </a:r>
            <a:r>
              <a:rPr lang="en-US" dirty="0"/>
              <a:t> </a:t>
            </a:r>
            <a:r>
              <a:rPr lang="en-US" dirty="0" err="1"/>
              <a:t>איתה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dirty="0" err="1"/>
              <a:t>אחרי</a:t>
            </a:r>
            <a:r>
              <a:rPr lang="en-US" dirty="0"/>
              <a:t> </a:t>
            </a:r>
            <a:r>
              <a:rPr lang="en-US" dirty="0" err="1"/>
              <a:t>שבנינו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הלפלסיאן</a:t>
            </a:r>
            <a:r>
              <a:rPr lang="en-US" dirty="0"/>
              <a:t>, </a:t>
            </a:r>
            <a:r>
              <a:rPr lang="en-US" dirty="0" err="1"/>
              <a:t>אנחנו</a:t>
            </a:r>
            <a:r>
              <a:rPr lang="en-US" dirty="0"/>
              <a:t> </a:t>
            </a:r>
            <a:r>
              <a:rPr lang="en-US" dirty="0" err="1"/>
              <a:t>יכולים</a:t>
            </a:r>
            <a:r>
              <a:rPr lang="en-US" dirty="0"/>
              <a:t> </a:t>
            </a:r>
            <a:r>
              <a:rPr lang="en-US" dirty="0" err="1"/>
              <a:t>להעניק</a:t>
            </a:r>
            <a:r>
              <a:rPr lang="en-US" dirty="0"/>
              <a:t> </a:t>
            </a:r>
            <a:r>
              <a:rPr lang="en-US" dirty="0" err="1"/>
              <a:t>לו</a:t>
            </a:r>
            <a:r>
              <a:rPr lang="en-US" dirty="0"/>
              <a:t> </a:t>
            </a:r>
            <a:r>
              <a:rPr lang="en-US" dirty="0" err="1"/>
              <a:t>משמעות</a:t>
            </a:r>
            <a:r>
              <a:rPr lang="en-US" dirty="0"/>
              <a:t> </a:t>
            </a:r>
            <a:r>
              <a:rPr lang="en-US" dirty="0" err="1"/>
              <a:t>פיזיקלית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</a:t>
            </a:r>
            <a:r>
              <a:rPr lang="en-US" dirty="0" err="1"/>
              <a:t>אינטואיטיבית</a:t>
            </a:r>
            <a:r>
              <a:rPr lang="en-US" dirty="0"/>
              <a:t>. </a:t>
            </a:r>
            <a:r>
              <a:rPr lang="en-US" dirty="0" err="1"/>
              <a:t>הלפלסיאן</a:t>
            </a:r>
            <a:r>
              <a:rPr lang="en-US" dirty="0"/>
              <a:t> </a:t>
            </a:r>
            <a:r>
              <a:rPr lang="en-US" dirty="0" err="1"/>
              <a:t>קשור</a:t>
            </a:r>
            <a:r>
              <a:rPr lang="en-US" dirty="0"/>
              <a:t> </a:t>
            </a:r>
            <a:r>
              <a:rPr lang="en-US" dirty="0" err="1"/>
              <a:t>ישירות</a:t>
            </a:r>
            <a:r>
              <a:rPr lang="en-US" dirty="0"/>
              <a:t> </a:t>
            </a:r>
            <a:r>
              <a:rPr lang="en-US" dirty="0" err="1"/>
              <a:t>למשוואת</a:t>
            </a:r>
            <a:r>
              <a:rPr lang="en-US" dirty="0"/>
              <a:t> </a:t>
            </a:r>
            <a:r>
              <a:rPr lang="en-US" dirty="0" err="1"/>
              <a:t>החום</a:t>
            </a:r>
            <a:r>
              <a:rPr lang="en-US" dirty="0"/>
              <a:t> </a:t>
            </a:r>
            <a:r>
              <a:rPr lang="en-US" dirty="0" err="1"/>
              <a:t>הדיסקרטית</a:t>
            </a:r>
            <a:r>
              <a:rPr lang="en-US" dirty="0"/>
              <a:t>, </a:t>
            </a:r>
            <a:r>
              <a:rPr lang="en-US" dirty="0" err="1"/>
              <a:t>שמתארת</a:t>
            </a:r>
            <a:r>
              <a:rPr lang="en-US" dirty="0"/>
              <a:t> </a:t>
            </a:r>
            <a:r>
              <a:rPr lang="en-US" dirty="0" err="1"/>
              <a:t>איך</a:t>
            </a:r>
            <a:r>
              <a:rPr lang="en-US" dirty="0"/>
              <a:t> </a:t>
            </a:r>
            <a:r>
              <a:rPr lang="en-US" dirty="0" err="1"/>
              <a:t>חום</a:t>
            </a:r>
            <a:r>
              <a:rPr lang="en-US" dirty="0"/>
              <a:t>, </a:t>
            </a:r>
            <a:r>
              <a:rPr lang="en-US" dirty="0" err="1"/>
              <a:t>או</a:t>
            </a:r>
            <a:r>
              <a:rPr lang="en-US" dirty="0"/>
              <a:t> </a:t>
            </a:r>
            <a:r>
              <a:rPr lang="en-US" dirty="0" err="1"/>
              <a:t>מידע</a:t>
            </a:r>
            <a:r>
              <a:rPr lang="en-US" dirty="0"/>
              <a:t>, </a:t>
            </a:r>
            <a:r>
              <a:rPr lang="en-US" dirty="0" err="1"/>
              <a:t>מתפשט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פני</a:t>
            </a:r>
            <a:r>
              <a:rPr lang="en-US" dirty="0"/>
              <a:t> </a:t>
            </a:r>
            <a:r>
              <a:rPr lang="en-US" dirty="0" err="1"/>
              <a:t>הגרף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</a:t>
            </a:r>
            <a:r>
              <a:rPr lang="en-US" dirty="0" err="1"/>
              <a:t>לאורך</a:t>
            </a:r>
            <a:r>
              <a:rPr lang="en-US" dirty="0"/>
              <a:t> </a:t>
            </a:r>
            <a:r>
              <a:rPr lang="en-US" dirty="0" err="1"/>
              <a:t>זמן</a:t>
            </a:r>
            <a:r>
              <a:rPr lang="en-US" dirty="0"/>
              <a:t>. </a:t>
            </a:r>
            <a:r>
              <a:rPr lang="en-US" dirty="0" err="1"/>
              <a:t>התנהגות</a:t>
            </a:r>
            <a:r>
              <a:rPr lang="en-US" dirty="0"/>
              <a:t> </a:t>
            </a:r>
            <a:r>
              <a:rPr lang="en-US" dirty="0" err="1"/>
              <a:t>הדיפוזיה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חושפת</a:t>
            </a:r>
            <a:r>
              <a:rPr lang="en-US" dirty="0"/>
              <a:t> </a:t>
            </a:r>
            <a:r>
              <a:rPr lang="en-US" dirty="0" err="1"/>
              <a:t>בפנינו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אופי</a:t>
            </a:r>
            <a:r>
              <a:rPr lang="en-US" dirty="0"/>
              <a:t> </a:t>
            </a:r>
            <a:r>
              <a:rPr lang="en-US" dirty="0" err="1"/>
              <a:t>הטקסטורה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בואו</a:t>
            </a:r>
            <a:r>
              <a:rPr lang="en-US" dirty="0"/>
              <a:t> </a:t>
            </a:r>
            <a:r>
              <a:rPr lang="en-US" dirty="0" err="1"/>
              <a:t>נסתכל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טקסטורות</a:t>
            </a:r>
            <a:r>
              <a:rPr lang="en-US" dirty="0"/>
              <a:t> </a:t>
            </a:r>
            <a:r>
              <a:rPr lang="en-US" dirty="0" err="1"/>
              <a:t>חלקות</a:t>
            </a:r>
            <a:r>
              <a:rPr lang="en-US" dirty="0"/>
              <a:t>. </a:t>
            </a:r>
            <a:r>
              <a:rPr lang="en-US" dirty="0" err="1"/>
              <a:t>באזורים</a:t>
            </a:r>
            <a:r>
              <a:rPr lang="en-US" dirty="0"/>
              <a:t> </a:t>
            </a:r>
            <a:r>
              <a:rPr lang="en-US" dirty="0" err="1"/>
              <a:t>שבהם</a:t>
            </a:r>
            <a:r>
              <a:rPr lang="en-US" dirty="0"/>
              <a:t> </a:t>
            </a:r>
            <a:r>
              <a:rPr lang="en-US" dirty="0" err="1"/>
              <a:t>הבהירות</a:t>
            </a:r>
            <a:r>
              <a:rPr lang="en-US" dirty="0"/>
              <a:t> </a:t>
            </a:r>
            <a:r>
              <a:rPr lang="en-US" dirty="0" err="1"/>
              <a:t>משתנה</a:t>
            </a:r>
            <a:r>
              <a:rPr lang="en-US" dirty="0"/>
              <a:t> </a:t>
            </a:r>
            <a:r>
              <a:rPr lang="en-US" dirty="0" err="1"/>
              <a:t>לאט</a:t>
            </a:r>
            <a:r>
              <a:rPr lang="en-US" dirty="0"/>
              <a:t>, </a:t>
            </a:r>
            <a:r>
              <a:rPr lang="en-US" dirty="0" err="1"/>
              <a:t>משקלי</a:t>
            </a:r>
            <a:r>
              <a:rPr lang="en-US" dirty="0"/>
              <a:t> </a:t>
            </a:r>
            <a:r>
              <a:rPr lang="en-US" dirty="0" err="1"/>
              <a:t>הצלעות</a:t>
            </a:r>
            <a:r>
              <a:rPr lang="en-US" dirty="0"/>
              <a:t> </a:t>
            </a:r>
            <a:r>
              <a:rPr lang="en-US" dirty="0" err="1"/>
              <a:t>בגרף</a:t>
            </a:r>
            <a:r>
              <a:rPr lang="en-US" dirty="0"/>
              <a:t> </a:t>
            </a:r>
            <a:r>
              <a:rPr lang="en-US" dirty="0" err="1"/>
              <a:t>נשארים</a:t>
            </a:r>
            <a:r>
              <a:rPr lang="en-US" dirty="0"/>
              <a:t> </a:t>
            </a:r>
            <a:r>
              <a:rPr lang="en-US" dirty="0" err="1"/>
              <a:t>גבוהים</a:t>
            </a:r>
            <a:r>
              <a:rPr lang="en-US" dirty="0"/>
              <a:t>. </a:t>
            </a:r>
            <a:r>
              <a:rPr lang="en-US" dirty="0" err="1"/>
              <a:t>התוצאה</a:t>
            </a:r>
            <a:r>
              <a:rPr lang="en-US" dirty="0"/>
              <a:t> </a:t>
            </a:r>
            <a:r>
              <a:rPr lang="en-US" dirty="0" err="1"/>
              <a:t>הפיזיקלית</a:t>
            </a:r>
            <a:r>
              <a:rPr lang="en-US" dirty="0"/>
              <a:t> </a:t>
            </a:r>
            <a:r>
              <a:rPr lang="en-US" dirty="0" err="1"/>
              <a:t>היא</a:t>
            </a:r>
            <a:r>
              <a:rPr lang="en-US" dirty="0"/>
              <a:t> </a:t>
            </a:r>
            <a:r>
              <a:rPr lang="en-US" dirty="0" err="1"/>
              <a:t>שחום</a:t>
            </a:r>
            <a:r>
              <a:rPr lang="en-US" dirty="0"/>
              <a:t> </a:t>
            </a:r>
            <a:r>
              <a:rPr lang="en-US" dirty="0" err="1"/>
              <a:t>יכול</a:t>
            </a:r>
            <a:r>
              <a:rPr lang="en-US" dirty="0"/>
              <a:t> </a:t>
            </a:r>
            <a:r>
              <a:rPr lang="en-US" dirty="0" err="1"/>
              <a:t>לזרום</a:t>
            </a:r>
            <a:r>
              <a:rPr lang="en-US" dirty="0"/>
              <a:t> </a:t>
            </a:r>
            <a:r>
              <a:rPr lang="en-US" dirty="0" err="1"/>
              <a:t>ולהתפשט</a:t>
            </a:r>
            <a:r>
              <a:rPr lang="en-US" dirty="0"/>
              <a:t> </a:t>
            </a:r>
            <a:r>
              <a:rPr lang="en-US" dirty="0" err="1"/>
              <a:t>בצורה</a:t>
            </a:r>
            <a:r>
              <a:rPr lang="en-US" dirty="0"/>
              <a:t> </a:t>
            </a:r>
            <a:r>
              <a:rPr lang="en-US" dirty="0" err="1"/>
              <a:t>מהירה</a:t>
            </a:r>
            <a:r>
              <a:rPr lang="en-US" dirty="0"/>
              <a:t> </a:t>
            </a:r>
            <a:r>
              <a:rPr lang="en-US" dirty="0" err="1"/>
              <a:t>ואחידה</a:t>
            </a:r>
            <a:r>
              <a:rPr lang="en-US" dirty="0"/>
              <a:t> </a:t>
            </a:r>
            <a:r>
              <a:rPr lang="en-US" dirty="0" err="1"/>
              <a:t>לכל</a:t>
            </a:r>
            <a:r>
              <a:rPr lang="en-US" dirty="0"/>
              <a:t> </a:t>
            </a:r>
            <a:r>
              <a:rPr lang="en-US" dirty="0" err="1"/>
              <a:t>הכיוונים</a:t>
            </a:r>
            <a:r>
              <a:rPr lang="en-US" dirty="0"/>
              <a:t>, </a:t>
            </a:r>
            <a:r>
              <a:rPr lang="en-US" dirty="0" err="1"/>
              <a:t>כפי</a:t>
            </a:r>
            <a:r>
              <a:rPr lang="en-US" dirty="0"/>
              <a:t> </a:t>
            </a:r>
            <a:r>
              <a:rPr lang="en-US" dirty="0" err="1"/>
              <a:t>שאפשר</a:t>
            </a:r>
            <a:r>
              <a:rPr lang="en-US" dirty="0"/>
              <a:t> </a:t>
            </a:r>
            <a:r>
              <a:rPr lang="en-US" dirty="0" err="1"/>
              <a:t>לראות</a:t>
            </a:r>
            <a:r>
              <a:rPr lang="en-US" dirty="0"/>
              <a:t> </a:t>
            </a:r>
            <a:r>
              <a:rPr lang="en-US" dirty="0" err="1"/>
              <a:t>באיור</a:t>
            </a:r>
            <a:r>
              <a:rPr lang="en-US" dirty="0"/>
              <a:t>. </a:t>
            </a:r>
            <a:r>
              <a:rPr lang="en-US" dirty="0" err="1"/>
              <a:t>מבחינה</a:t>
            </a:r>
            <a:r>
              <a:rPr lang="en-US" dirty="0"/>
              <a:t> </a:t>
            </a:r>
            <a:r>
              <a:rPr lang="en-US" dirty="0" err="1"/>
              <a:t>מתמטית</a:t>
            </a:r>
            <a:r>
              <a:rPr lang="en-US" dirty="0"/>
              <a:t>, </a:t>
            </a:r>
            <a:r>
              <a:rPr lang="en-US" dirty="0" err="1"/>
              <a:t>הזרימה</a:t>
            </a:r>
            <a:r>
              <a:rPr lang="en-US" dirty="0"/>
              <a:t> </a:t>
            </a:r>
            <a:r>
              <a:rPr lang="en-US" dirty="0" err="1"/>
              <a:t>החלקה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באה</a:t>
            </a:r>
            <a:r>
              <a:rPr lang="en-US" dirty="0"/>
              <a:t> </a:t>
            </a:r>
            <a:r>
              <a:rPr lang="en-US" dirty="0" err="1"/>
              <a:t>לידי</a:t>
            </a:r>
            <a:r>
              <a:rPr lang="en-US" dirty="0"/>
              <a:t> </a:t>
            </a:r>
            <a:r>
              <a:rPr lang="en-US" dirty="0" err="1"/>
              <a:t>ביטוי</a:t>
            </a:r>
            <a:r>
              <a:rPr lang="en-US" dirty="0"/>
              <a:t> </a:t>
            </a:r>
            <a:r>
              <a:rPr lang="en-US" dirty="0" err="1"/>
              <a:t>בספקטרום</a:t>
            </a:r>
            <a:r>
              <a:rPr lang="en-US" dirty="0"/>
              <a:t> </a:t>
            </a:r>
            <a:r>
              <a:rPr lang="en-US" dirty="0" err="1"/>
              <a:t>שנשלט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ידי</a:t>
            </a:r>
            <a:r>
              <a:rPr lang="en-US" dirty="0"/>
              <a:t> </a:t>
            </a:r>
            <a:r>
              <a:rPr lang="en-US" dirty="0" err="1"/>
              <a:t>תדרים</a:t>
            </a:r>
            <a:r>
              <a:rPr lang="en-US" dirty="0"/>
              <a:t> </a:t>
            </a:r>
            <a:r>
              <a:rPr lang="en-US" dirty="0" err="1"/>
              <a:t>נמוכים</a:t>
            </a:r>
            <a:r>
              <a:rPr lang="en-US" dirty="0"/>
              <a:t>, </a:t>
            </a:r>
            <a:r>
              <a:rPr lang="en-US" dirty="0" err="1"/>
              <a:t>כלומר</a:t>
            </a:r>
            <a:r>
              <a:rPr lang="en-US" dirty="0"/>
              <a:t> </a:t>
            </a:r>
            <a:r>
              <a:rPr lang="en-US" dirty="0" err="1"/>
              <a:t>ערכים</a:t>
            </a:r>
            <a:r>
              <a:rPr lang="en-US" dirty="0"/>
              <a:t> </a:t>
            </a:r>
            <a:r>
              <a:rPr lang="en-US" dirty="0" err="1"/>
              <a:t>עצמיים</a:t>
            </a:r>
            <a:r>
              <a:rPr lang="en-US" dirty="0"/>
              <a:t> </a:t>
            </a:r>
            <a:r>
              <a:rPr lang="en-US" dirty="0" err="1"/>
              <a:t>נמוכים</a:t>
            </a:r>
            <a:r>
              <a:rPr lang="en-US" dirty="0"/>
              <a:t> </a:t>
            </a:r>
            <a:r>
              <a:rPr lang="en-US" dirty="0" err="1"/>
              <a:t>שמייצגים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המבנה</a:t>
            </a:r>
            <a:r>
              <a:rPr lang="en-US" dirty="0"/>
              <a:t> </a:t>
            </a:r>
            <a:r>
              <a:rPr lang="en-US" dirty="0" err="1"/>
              <a:t>הגלובלי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לעומת</a:t>
            </a:r>
            <a:r>
              <a:rPr lang="en-US" dirty="0"/>
              <a:t> </a:t>
            </a:r>
            <a:r>
              <a:rPr lang="en-US" dirty="0" err="1"/>
              <a:t>זאת</a:t>
            </a:r>
            <a:r>
              <a:rPr lang="en-US" dirty="0"/>
              <a:t>, </a:t>
            </a:r>
            <a:r>
              <a:rPr lang="en-US" dirty="0" err="1"/>
              <a:t>בטקסטורות</a:t>
            </a:r>
            <a:r>
              <a:rPr lang="en-US" dirty="0"/>
              <a:t> </a:t>
            </a:r>
            <a:r>
              <a:rPr lang="en-US" dirty="0" err="1"/>
              <a:t>רועשות</a:t>
            </a:r>
            <a:r>
              <a:rPr lang="en-US" dirty="0"/>
              <a:t> </a:t>
            </a:r>
            <a:r>
              <a:rPr lang="en-US" dirty="0" err="1"/>
              <a:t>או</a:t>
            </a:r>
            <a:r>
              <a:rPr lang="en-US" dirty="0"/>
              <a:t> </a:t>
            </a:r>
            <a:r>
              <a:rPr lang="en-US" dirty="0" err="1"/>
              <a:t>מחוספסות</a:t>
            </a:r>
            <a:r>
              <a:rPr lang="en-US" dirty="0"/>
              <a:t>, </a:t>
            </a:r>
            <a:r>
              <a:rPr lang="en-US" dirty="0" err="1"/>
              <a:t>יש</a:t>
            </a:r>
            <a:r>
              <a:rPr lang="en-US" dirty="0"/>
              <a:t> </a:t>
            </a:r>
            <a:r>
              <a:rPr lang="en-US" dirty="0" err="1"/>
              <a:t>לנו</a:t>
            </a:r>
            <a:r>
              <a:rPr lang="en-US" dirty="0"/>
              <a:t> </a:t>
            </a:r>
            <a:r>
              <a:rPr lang="en-US" dirty="0" err="1"/>
              <a:t>שינויים</a:t>
            </a:r>
            <a:r>
              <a:rPr lang="en-US" dirty="0"/>
              <a:t> </a:t>
            </a:r>
            <a:r>
              <a:rPr lang="en-US" dirty="0" err="1"/>
              <a:t>חדים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</a:t>
            </a:r>
            <a:r>
              <a:rPr lang="en-US" dirty="0" err="1"/>
              <a:t>בפיקסלים</a:t>
            </a:r>
            <a:r>
              <a:rPr lang="en-US" dirty="0"/>
              <a:t>. </a:t>
            </a:r>
            <a:r>
              <a:rPr lang="en-US" dirty="0" err="1"/>
              <a:t>השינויים</a:t>
            </a:r>
            <a:r>
              <a:rPr lang="en-US" dirty="0"/>
              <a:t> </a:t>
            </a:r>
            <a:r>
              <a:rPr lang="en-US" dirty="0" err="1"/>
              <a:t>האלו</a:t>
            </a:r>
            <a:r>
              <a:rPr lang="en-US" dirty="0"/>
              <a:t> </a:t>
            </a:r>
            <a:r>
              <a:rPr lang="en-US" dirty="0" err="1"/>
              <a:t>יוצרים</a:t>
            </a:r>
            <a:r>
              <a:rPr lang="en-US" dirty="0"/>
              <a:t> </a:t>
            </a:r>
            <a:r>
              <a:rPr lang="en-US" dirty="0" err="1"/>
              <a:t>משקלים</a:t>
            </a:r>
            <a:r>
              <a:rPr lang="en-US" dirty="0"/>
              <a:t> </a:t>
            </a:r>
            <a:r>
              <a:rPr lang="en-US" dirty="0" err="1"/>
              <a:t>קטנים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</a:t>
            </a:r>
            <a:r>
              <a:rPr lang="en-US" dirty="0" err="1"/>
              <a:t>בגרף</a:t>
            </a:r>
            <a:r>
              <a:rPr lang="en-US" dirty="0"/>
              <a:t>, </a:t>
            </a:r>
            <a:r>
              <a:rPr lang="en-US" dirty="0" err="1"/>
              <a:t>שמתפקדים</a:t>
            </a:r>
            <a:r>
              <a:rPr lang="en-US" dirty="0"/>
              <a:t> </a:t>
            </a:r>
            <a:r>
              <a:rPr lang="en-US" dirty="0" err="1"/>
              <a:t>הלכה</a:t>
            </a:r>
            <a:r>
              <a:rPr lang="en-US" dirty="0"/>
              <a:t> </a:t>
            </a:r>
            <a:r>
              <a:rPr lang="en-US" dirty="0" err="1"/>
              <a:t>למעשה</a:t>
            </a:r>
            <a:r>
              <a:rPr lang="en-US" dirty="0"/>
              <a:t> </a:t>
            </a:r>
            <a:r>
              <a:rPr lang="en-US" dirty="0" err="1"/>
              <a:t>כ'מחסומי</a:t>
            </a:r>
            <a:r>
              <a:rPr lang="en-US" dirty="0"/>
              <a:t> </a:t>
            </a:r>
            <a:r>
              <a:rPr lang="en-US" dirty="0" err="1"/>
              <a:t>דיפוזיה</a:t>
            </a:r>
            <a:r>
              <a:rPr lang="en-US" dirty="0"/>
              <a:t>'. </a:t>
            </a:r>
            <a:r>
              <a:rPr lang="en-US" dirty="0" err="1"/>
              <a:t>החום</a:t>
            </a:r>
            <a:r>
              <a:rPr lang="en-US" dirty="0"/>
              <a:t> </a:t>
            </a:r>
            <a:r>
              <a:rPr lang="en-US" dirty="0" err="1"/>
              <a:t>לא</a:t>
            </a:r>
            <a:r>
              <a:rPr lang="en-US" dirty="0"/>
              <a:t> </a:t>
            </a:r>
            <a:r>
              <a:rPr lang="en-US" dirty="0" err="1"/>
              <a:t>מצליח</a:t>
            </a:r>
            <a:r>
              <a:rPr lang="en-US" dirty="0"/>
              <a:t> </a:t>
            </a:r>
            <a:r>
              <a:rPr lang="en-US" dirty="0" err="1"/>
              <a:t>להתפשט</a:t>
            </a:r>
            <a:r>
              <a:rPr lang="en-US" dirty="0"/>
              <a:t>, </a:t>
            </a:r>
            <a:r>
              <a:rPr lang="en-US" dirty="0" err="1"/>
              <a:t>והוא</a:t>
            </a:r>
            <a:r>
              <a:rPr lang="en-US" dirty="0"/>
              <a:t> </a:t>
            </a:r>
            <a:r>
              <a:rPr lang="en-US" dirty="0" err="1"/>
              <a:t>נשאר</a:t>
            </a:r>
            <a:r>
              <a:rPr lang="en-US" dirty="0"/>
              <a:t> </a:t>
            </a:r>
            <a:r>
              <a:rPr lang="en-US" dirty="0" err="1"/>
              <a:t>כלוא</a:t>
            </a:r>
            <a:r>
              <a:rPr lang="en-US" dirty="0"/>
              <a:t> </a:t>
            </a:r>
            <a:r>
              <a:rPr lang="en-US" dirty="0" err="1"/>
              <a:t>ומקומי</a:t>
            </a:r>
            <a:r>
              <a:rPr lang="en-US" dirty="0"/>
              <a:t>, </a:t>
            </a:r>
            <a:r>
              <a:rPr lang="en-US" dirty="0" err="1"/>
              <a:t>ממש</a:t>
            </a:r>
            <a:r>
              <a:rPr lang="en-US" dirty="0"/>
              <a:t> </a:t>
            </a:r>
            <a:r>
              <a:rPr lang="en-US" dirty="0" err="1"/>
              <a:t>כמו</a:t>
            </a:r>
            <a:r>
              <a:rPr lang="en-US" dirty="0"/>
              <a:t> </a:t>
            </a:r>
            <a:r>
              <a:rPr lang="en-US" dirty="0" err="1"/>
              <a:t>כתמים</a:t>
            </a:r>
            <a:r>
              <a:rPr lang="en-US" dirty="0"/>
              <a:t> </a:t>
            </a:r>
            <a:r>
              <a:rPr lang="en-US" dirty="0" err="1"/>
              <a:t>מבודדים</a:t>
            </a:r>
            <a:r>
              <a:rPr lang="en-US" dirty="0"/>
              <a:t>. </a:t>
            </a:r>
            <a:r>
              <a:rPr lang="en-US" dirty="0" err="1"/>
              <a:t>הניתוקים</a:t>
            </a:r>
            <a:r>
              <a:rPr lang="en-US" dirty="0"/>
              <a:t> </a:t>
            </a:r>
            <a:r>
              <a:rPr lang="en-US" dirty="0" err="1"/>
              <a:t>והקפיצות</a:t>
            </a:r>
            <a:r>
              <a:rPr lang="en-US" dirty="0"/>
              <a:t> </a:t>
            </a:r>
            <a:r>
              <a:rPr lang="en-US" dirty="0" err="1"/>
              <a:t>האלו</a:t>
            </a:r>
            <a:r>
              <a:rPr lang="en-US" dirty="0"/>
              <a:t> </a:t>
            </a:r>
            <a:r>
              <a:rPr lang="en-US" dirty="0" err="1"/>
              <a:t>בגרף</a:t>
            </a:r>
            <a:r>
              <a:rPr lang="en-US" dirty="0"/>
              <a:t> </a:t>
            </a:r>
            <a:r>
              <a:rPr lang="en-US" dirty="0" err="1"/>
              <a:t>מתורגמים</a:t>
            </a:r>
            <a:r>
              <a:rPr lang="en-US" dirty="0"/>
              <a:t> </a:t>
            </a:r>
            <a:r>
              <a:rPr lang="en-US" dirty="0" err="1"/>
              <a:t>ישירות</a:t>
            </a:r>
            <a:r>
              <a:rPr lang="en-US" dirty="0"/>
              <a:t> </a:t>
            </a:r>
            <a:r>
              <a:rPr lang="en-US" dirty="0" err="1"/>
              <a:t>לאנרגיה</a:t>
            </a:r>
            <a:r>
              <a:rPr lang="en-US" dirty="0"/>
              <a:t> </a:t>
            </a:r>
            <a:r>
              <a:rPr lang="en-US" dirty="0" err="1"/>
              <a:t>גבוהה</a:t>
            </a:r>
            <a:r>
              <a:rPr lang="en-US" dirty="0"/>
              <a:t> </a:t>
            </a:r>
            <a:r>
              <a:rPr lang="en-US" dirty="0" err="1"/>
              <a:t>בספקטרום</a:t>
            </a:r>
            <a:r>
              <a:rPr lang="en-US" dirty="0"/>
              <a:t> – </a:t>
            </a:r>
            <a:r>
              <a:rPr lang="en-US" dirty="0" err="1"/>
              <a:t>מה</a:t>
            </a:r>
            <a:r>
              <a:rPr lang="en-US" dirty="0"/>
              <a:t> </a:t>
            </a:r>
            <a:r>
              <a:rPr lang="en-US" dirty="0" err="1"/>
              <a:t>שמקפיץ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הערכים</a:t>
            </a:r>
            <a:r>
              <a:rPr lang="en-US" dirty="0"/>
              <a:t> </a:t>
            </a:r>
            <a:r>
              <a:rPr lang="en-US" dirty="0" err="1"/>
              <a:t>העצמיים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</a:t>
            </a:r>
            <a:r>
              <a:rPr lang="en-US" dirty="0" err="1"/>
              <a:t>למעלה</a:t>
            </a:r>
            <a:r>
              <a:rPr lang="en-US" dirty="0"/>
              <a:t> </a:t>
            </a:r>
            <a:r>
              <a:rPr lang="en-US" dirty="0" err="1"/>
              <a:t>ומעיד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טקסטורה</a:t>
            </a:r>
            <a:r>
              <a:rPr lang="en-US" dirty="0"/>
              <a:t> </a:t>
            </a:r>
            <a:r>
              <a:rPr lang="en-US" dirty="0" err="1"/>
              <a:t>מורכבת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בשקף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אפשר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לראות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ההתנהגות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הפיזיקלית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מתורגמת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ל'חתימה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ספקטרלית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ייחודית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עבור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משפחות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algn="r" rtl="1"/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בטקסטורות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חלקות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נקיים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האנרגיה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מרוכזת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נמוכים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רואים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דעיכה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מהירה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בטקסטורות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מחזוריות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קורדרוי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מקבל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פיקים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ההצטברויות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משקפות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התבנית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שחוזרת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במרחב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ובטקסטורות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מחוספסות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התפלגות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כמעט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אחידה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נוכחות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חזקה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תדרים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גבוהים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בגלל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הניתוקים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בגרף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לבחור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המתמטי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הנכון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ביותר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לפרויקט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השוויתי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ארבע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גרסאות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אופרטור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הראשון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הלא-מנורמל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אומנם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מפריד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היטב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מרחב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חלק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לרועש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חסומים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רגיש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לשינויי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תאורה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וקונטרסט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שמקשה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השוואה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דגימות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המנורמל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הסימטרי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פותר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בעיית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הסקאלה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בכך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תוחם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לטווח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ל-2.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התגלה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כיציב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במיוחד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ולכן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שנבחר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להניע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צינור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עיבוד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הנתונים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בהמשך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השלישי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פורמן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1-לפלסיאן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אופרטור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טופולוגי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מעניין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שקשור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לעקמומיות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ריצ'י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גילינו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יהיה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עיוור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חייבים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להטמיע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עוצמת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הפיקסלים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ישירות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המשקלים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הרביעי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הגיאומטרי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בוראגו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במקום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פיקסלים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קשיחה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משתמש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בחיבורים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מבוססי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רדיוס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מרחק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מייצר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תוצאה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אלגנטית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ונקייה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מעיוותים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פשוט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דורש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יותר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חישוב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פרקטי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במערכת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גדולה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להעמיד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המתמטיים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במבחן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אמיתי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החלטנו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להסתפק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לבחון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עולמות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לחלוטין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נשלט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לחלוטין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העולם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הראשון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מאגרKTH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-TIPS.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מעבדה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מבוקר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שמתמקד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פיזיים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קורדרוי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ספוג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קטגוריות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ושינויים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שיטתיים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תאורה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וזווית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מבחינה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מתמטית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היתרון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מחזורי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שמייצר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עבורנו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גרפים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מסודרים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ומובנים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שקל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יחסית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לנתח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העולם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DTD,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כבר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סיפור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לגמרי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אוסף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שנלקחו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מהטבע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בקרה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מסווג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תיאור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אנושי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מבעבע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מפוספס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הקטגוריות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מכילות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ועיוותים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קשים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האתגר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האמיתי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לרוב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מחזוריות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שמייצר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גרפים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כאוטיים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ואמורפיים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מבחן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הלחץ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האולטימטיבי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לאלגוריתם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שהבנו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התיאוריה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בואו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נראה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הדברים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עובדים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בפועל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תהליך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חילוץ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החתימה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בנוי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מארבעה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מרכזיים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הראשון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לוקחים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ממירים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לשחור-לבן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ומקטינים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לרזולוציה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סביב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פיקסלים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הקטנה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חוסכת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משאבי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מחשוב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והוכחנו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שהחספוס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נשמרים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מעולה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ברזולוציה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הזו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ממירים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לגרף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קישוריות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8שכנים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ומשקלים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גאוסיים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שהחישוב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יהיה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יעיל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יחנוק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הזיכרון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הנתונים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כמטריצה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דלילה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השלישי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מחשבים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המנורמל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הסימטרי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מאותה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מטריצה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שמבטיח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סקאלה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אחידה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ב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הרביעי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משתמשים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b="0" dirty="0" err="1"/>
              <a:t>באלגוריתם</a:t>
            </a:r>
            <a:r>
              <a:rPr lang="en-US" b="0" dirty="0"/>
              <a:t> </a:t>
            </a:r>
            <a:r>
              <a:rPr lang="en-US" b="0" dirty="0" err="1"/>
              <a:t>חישוב</a:t>
            </a:r>
            <a:r>
              <a:rPr lang="en-US" b="0" dirty="0"/>
              <a:t> </a:t>
            </a:r>
            <a:r>
              <a:rPr lang="en-US" b="0" dirty="0" err="1"/>
              <a:t>יעיל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לחלץ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העצמיים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הראשונים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המספרים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מרכיבים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החתימה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הייחודית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ה-Pipeline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בנינו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בפייתון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שימוש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בכלים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מתקדמים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לחישוב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מדעי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ולמידת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SciPy,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שמופיעים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למטה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להוכיח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המנגנון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לקחנו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מקרי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קיצון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חלקה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לעומת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והעמדנו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למבחן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דרך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שפיתחנו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הסתכלנו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זווית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אפשרית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0" algn="r" rt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בספקטרום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ראינו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שהערכים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מטפסים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למעלה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אל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התדרים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הגבוהים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שהשמיים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במתינות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 algn="r" rt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במטריצת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הדיפוזיה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הציגו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זרימה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חלקה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ורציפה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לעומת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בנתקים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שמתפקדים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כחסמים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 algn="r" rt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וכשעשינו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סימולציה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פיזור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ראינו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מתפשט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מעגלית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מושלמת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כשהנחנו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הרעש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פשוט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נתקע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ונשאר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במקום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algn="r" rtl="1"/>
            <a:r>
              <a:rPr lang="en-US" dirty="0" err="1"/>
              <a:t>אבל</a:t>
            </a:r>
            <a:r>
              <a:rPr lang="en-US" dirty="0"/>
              <a:t> </a:t>
            </a:r>
            <a:r>
              <a:rPr lang="en-US" dirty="0" err="1"/>
              <a:t>השורה</a:t>
            </a:r>
            <a:r>
              <a:rPr lang="en-US" dirty="0"/>
              <a:t> </a:t>
            </a:r>
            <a:r>
              <a:rPr lang="en-US" dirty="0" err="1"/>
              <a:t>התחתונה</a:t>
            </a:r>
            <a:r>
              <a:rPr lang="en-US" dirty="0"/>
              <a:t> </a:t>
            </a:r>
            <a:r>
              <a:rPr lang="en-US" dirty="0" err="1"/>
              <a:t>מופיעה</a:t>
            </a:r>
            <a:r>
              <a:rPr lang="en-US" dirty="0"/>
              <a:t> </a:t>
            </a:r>
            <a:r>
              <a:rPr lang="en-US" dirty="0" err="1"/>
              <a:t>כאן</a:t>
            </a:r>
            <a:r>
              <a:rPr lang="en-US" dirty="0"/>
              <a:t> </a:t>
            </a:r>
            <a:r>
              <a:rPr lang="en-US" dirty="0" err="1"/>
              <a:t>בצד</a:t>
            </a:r>
            <a:r>
              <a:rPr lang="en-US" dirty="0"/>
              <a:t> </a:t>
            </a:r>
            <a:r>
              <a:rPr lang="en-US" dirty="0" err="1"/>
              <a:t>ימין</a:t>
            </a:r>
            <a:r>
              <a:rPr lang="en-US" dirty="0"/>
              <a:t>. </a:t>
            </a:r>
            <a:r>
              <a:rPr lang="en-US" dirty="0" err="1"/>
              <a:t>הצלחנו</a:t>
            </a:r>
            <a:r>
              <a:rPr lang="en-US" dirty="0"/>
              <a:t> </a:t>
            </a:r>
            <a:r>
              <a:rPr lang="en-US" dirty="0" err="1"/>
              <a:t>לזקק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כל</a:t>
            </a:r>
            <a:r>
              <a:rPr lang="en-US" dirty="0"/>
              <a:t> </a:t>
            </a:r>
            <a:r>
              <a:rPr lang="en-US" dirty="0" err="1"/>
              <a:t>הפיזיקה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למדד</a:t>
            </a:r>
            <a:r>
              <a:rPr lang="en-US" dirty="0"/>
              <a:t> </a:t>
            </a:r>
            <a:r>
              <a:rPr lang="en-US" dirty="0" err="1"/>
              <a:t>כמותי</a:t>
            </a:r>
            <a:r>
              <a:rPr lang="en-US" dirty="0"/>
              <a:t> </a:t>
            </a:r>
            <a:r>
              <a:rPr lang="en-US" dirty="0" err="1"/>
              <a:t>אחד</a:t>
            </a:r>
            <a:r>
              <a:rPr lang="en-US" dirty="0"/>
              <a:t> – '</a:t>
            </a:r>
            <a:r>
              <a:rPr lang="en-US" dirty="0" err="1"/>
              <a:t>האנרגיה</a:t>
            </a:r>
            <a:r>
              <a:rPr lang="en-US" dirty="0"/>
              <a:t> </a:t>
            </a:r>
            <a:r>
              <a:rPr lang="en-US" dirty="0" err="1"/>
              <a:t>הספקטרלית</a:t>
            </a:r>
            <a:r>
              <a:rPr lang="en-US" dirty="0"/>
              <a:t> </a:t>
            </a:r>
            <a:r>
              <a:rPr lang="en-US" dirty="0" err="1"/>
              <a:t>הממוצעת</a:t>
            </a:r>
            <a:r>
              <a:rPr lang="en-US" dirty="0"/>
              <a:t>'. </a:t>
            </a:r>
            <a:r>
              <a:rPr lang="en-US" dirty="0" err="1"/>
              <a:t>השמיים</a:t>
            </a:r>
            <a:r>
              <a:rPr lang="en-US" dirty="0"/>
              <a:t> </a:t>
            </a:r>
            <a:r>
              <a:rPr lang="en-US" dirty="0" err="1"/>
              <a:t>החלקים</a:t>
            </a:r>
            <a:r>
              <a:rPr lang="en-US" dirty="0"/>
              <a:t> </a:t>
            </a:r>
            <a:r>
              <a:rPr lang="en-US" dirty="0" err="1"/>
              <a:t>הפיקו</a:t>
            </a:r>
            <a:r>
              <a:rPr lang="en-US" dirty="0"/>
              <a:t> </a:t>
            </a:r>
            <a:r>
              <a:rPr lang="en-US" dirty="0" err="1"/>
              <a:t>אנרגיה</a:t>
            </a:r>
            <a:r>
              <a:rPr lang="en-US" dirty="0"/>
              <a:t> </a:t>
            </a:r>
            <a:r>
              <a:rPr lang="en-US" dirty="0" err="1"/>
              <a:t>ספקטרלית</a:t>
            </a:r>
            <a:r>
              <a:rPr lang="en-US" dirty="0"/>
              <a:t> </a:t>
            </a:r>
            <a:r>
              <a:rPr lang="en-US" dirty="0" err="1"/>
              <a:t>גבוהה</a:t>
            </a:r>
            <a:r>
              <a:rPr lang="en-US" dirty="0"/>
              <a:t> </a:t>
            </a:r>
            <a:r>
              <a:rPr lang="en-US" dirty="0" err="1"/>
              <a:t>בהרבה</a:t>
            </a:r>
            <a:r>
              <a:rPr lang="en-US" dirty="0"/>
              <a:t> </a:t>
            </a:r>
            <a:r>
              <a:rPr lang="en-US" dirty="0" err="1"/>
              <a:t>מהרעש</a:t>
            </a:r>
            <a:r>
              <a:rPr lang="en-US" dirty="0"/>
              <a:t>, </a:t>
            </a:r>
            <a:r>
              <a:rPr lang="en-US" dirty="0" err="1"/>
              <a:t>פשוט</a:t>
            </a:r>
            <a:r>
              <a:rPr lang="en-US" dirty="0"/>
              <a:t> </a:t>
            </a:r>
            <a:r>
              <a:rPr lang="en-US" dirty="0" err="1"/>
              <a:t>כי</a:t>
            </a:r>
            <a:r>
              <a:rPr lang="en-US" dirty="0"/>
              <a:t> </a:t>
            </a:r>
            <a:r>
              <a:rPr lang="en-US" dirty="0" err="1"/>
              <a:t>המבנה</a:t>
            </a:r>
            <a:r>
              <a:rPr lang="en-US" dirty="0"/>
              <a:t> </a:t>
            </a:r>
            <a:r>
              <a:rPr lang="en-US" dirty="0" err="1"/>
              <a:t>הרציף</a:t>
            </a:r>
            <a:r>
              <a:rPr lang="en-US" dirty="0"/>
              <a:t> </a:t>
            </a:r>
            <a:r>
              <a:rPr lang="en-US" dirty="0" err="1"/>
              <a:t>שלהם</a:t>
            </a:r>
            <a:r>
              <a:rPr lang="en-US" dirty="0"/>
              <a:t> </a:t>
            </a:r>
            <a:r>
              <a:rPr lang="en-US" dirty="0" err="1"/>
              <a:t>מאפשר</a:t>
            </a:r>
            <a:r>
              <a:rPr lang="en-US" dirty="0"/>
              <a:t> </a:t>
            </a:r>
            <a:r>
              <a:rPr lang="en-US" dirty="0" err="1"/>
              <a:t>תהודה</a:t>
            </a:r>
            <a:r>
              <a:rPr lang="en-US" dirty="0"/>
              <a:t> </a:t>
            </a:r>
            <a:r>
              <a:rPr lang="en-US" dirty="0" err="1"/>
              <a:t>גלובלית</a:t>
            </a:r>
            <a:r>
              <a:rPr lang="en-US" dirty="0"/>
              <a:t> </a:t>
            </a:r>
            <a:r>
              <a:rPr lang="en-US" dirty="0" err="1"/>
              <a:t>שעוברת</a:t>
            </a:r>
            <a:r>
              <a:rPr lang="en-US" dirty="0"/>
              <a:t> </a:t>
            </a: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פני</a:t>
            </a:r>
            <a:r>
              <a:rPr lang="en-US" dirty="0"/>
              <a:t> </a:t>
            </a:r>
            <a:r>
              <a:rPr lang="en-US" dirty="0" err="1"/>
              <a:t>כל</a:t>
            </a:r>
            <a:r>
              <a:rPr lang="en-US" dirty="0"/>
              <a:t> </a:t>
            </a:r>
            <a:r>
              <a:rPr lang="en-US" dirty="0" err="1"/>
              <a:t>הגרף</a:t>
            </a:r>
            <a:r>
              <a:rPr lang="en-US" dirty="0"/>
              <a:t>. </a:t>
            </a:r>
            <a:r>
              <a:rPr lang="en-US" dirty="0" err="1"/>
              <a:t>זוהי</a:t>
            </a:r>
            <a:r>
              <a:rPr lang="en-US" dirty="0"/>
              <a:t> </a:t>
            </a:r>
            <a:r>
              <a:rPr lang="en-US" dirty="0" err="1"/>
              <a:t>הוכחת</a:t>
            </a:r>
            <a:r>
              <a:rPr lang="en-US" dirty="0"/>
              <a:t> </a:t>
            </a:r>
            <a:r>
              <a:rPr lang="en-US" dirty="0" err="1"/>
              <a:t>ההיתכנות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– </a:t>
            </a:r>
            <a:r>
              <a:rPr lang="en-US" dirty="0" err="1"/>
              <a:t>ההוכחה</a:t>
            </a:r>
            <a:r>
              <a:rPr lang="en-US" dirty="0"/>
              <a:t> </a:t>
            </a:r>
            <a:r>
              <a:rPr lang="en-US" dirty="0" err="1"/>
              <a:t>שאנחנו</a:t>
            </a:r>
            <a:r>
              <a:rPr lang="en-US" dirty="0"/>
              <a:t> </a:t>
            </a:r>
            <a:r>
              <a:rPr lang="en-US" dirty="0" err="1"/>
              <a:t>יכולים</a:t>
            </a:r>
            <a:r>
              <a:rPr lang="en-US" dirty="0"/>
              <a:t> </a:t>
            </a:r>
            <a:r>
              <a:rPr lang="en-US" dirty="0" err="1"/>
              <a:t>לקחת</a:t>
            </a:r>
            <a:r>
              <a:rPr lang="en-US" dirty="0"/>
              <a:t> </a:t>
            </a:r>
            <a:r>
              <a:rPr lang="en-US" dirty="0" err="1"/>
              <a:t>תמונה</a:t>
            </a:r>
            <a:r>
              <a:rPr lang="en-US" dirty="0"/>
              <a:t>, </a:t>
            </a:r>
            <a:r>
              <a:rPr lang="en-US" dirty="0" err="1"/>
              <a:t>ולכמת</a:t>
            </a:r>
            <a:r>
              <a:rPr lang="en-US" dirty="0"/>
              <a:t> </a:t>
            </a:r>
            <a:r>
              <a:rPr lang="en-US" dirty="0" err="1"/>
              <a:t>בצורה</a:t>
            </a:r>
            <a:r>
              <a:rPr lang="en-US" dirty="0"/>
              <a:t> </a:t>
            </a:r>
            <a:r>
              <a:rPr lang="en-US" dirty="0" err="1"/>
              <a:t>מספרית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'</a:t>
            </a:r>
            <a:r>
              <a:rPr lang="en-US" dirty="0" err="1"/>
              <a:t>הצליל</a:t>
            </a:r>
            <a:r>
              <a:rPr lang="en-US" dirty="0"/>
              <a:t>' </a:t>
            </a:r>
            <a:r>
              <a:rPr lang="en-US" dirty="0" err="1"/>
              <a:t>שלה</a:t>
            </a:r>
            <a:r>
              <a:rPr lang="en-US" dirty="0"/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אז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ראינו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אכן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ובאמת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כשהרצנו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הבסיס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KTH-TIPS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שימוש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ספקטרליים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בלבד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הגענו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61.11%.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מרשים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ומוכיח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שהסיגנל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כשניתחנו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הטעויות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המגבלות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התיאוריה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שהאלגוריתם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מתבלבל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באופן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עקבי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מסוימים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התקשה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להבדיל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ספוג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שחור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כותנה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לפשתן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ספוג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ולחם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שניהם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נקבוביים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הטופולוגיה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הגלובלית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הגרפים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שלהם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מתנהגים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כמעט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ולכן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שלהם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חופף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האבחנה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הייתה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מעולה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בללכוד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המאקרוסקופי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בדרך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ומאבד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הרזולוציה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העדינה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השינויים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המקומיים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הקטנים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המסקנה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הייתה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שאם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רוצים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להפריד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גלובלי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דומה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חייבים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ניתוח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קלאסיים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שיודעים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להסתכל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המיקרו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מסנני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Gabor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LBP.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שהוביל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לפתח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הארכיטקטורה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ההיברידית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שנראה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עכשיו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לפתור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מגבלת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הרזולוציה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המקומית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פיתחנו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הארכיטקטורה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ההיברידי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הספקטרלי-קלאסי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הרעיון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פשוט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לקחת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העולמות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ולמזג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מצד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מחלצים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168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ספקטרליים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חישבנו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במספר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סקאלות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ללכוד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הטופולוגיה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הגלובלית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העשירה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ביותר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מצד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חילצנו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68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קלאסיים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בעזרת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מסננים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Gabor ו-LBP.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המסננים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מתמחים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בלבודד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שינויים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מקומיים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המיקרו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החליק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איחדנו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המקורות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לווקטור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236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ממדים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לפענח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הקשרים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המורכבים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והלא-ליניאריים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המאקרוסקופי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למיקרוסקופי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הווקטור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נוירונים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עמוקה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ייעודית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שבנינו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שנקראת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TextureSpectralNet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הרציונל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סינרגיה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מוחלטת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מפספס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המסננים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הקלאסיים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תופסים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העמוקה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לומדת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הממדים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חתימה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מנצחת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אז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אחרי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העבודה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התיאורטית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וההנדסית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התוצאות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שקיבלנו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KTH-TIPS.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הגרף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מראה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התפתחות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הביצועים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מכיוון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חומרים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ייתן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כשהשתמשנו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כלומר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קפצנו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61.1%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מדהים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מוכיח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באופן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משמעי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שהטופולוגיה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הגרף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אכן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אוצרת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בתוכה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מידע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פיזיקלי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הפריצה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האמיתית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קרתה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כשהפעלנו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ההיברידי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השילוב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המסננים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המקומיים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הזניק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98.15%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כולל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מוחלטת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זיהוי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יותר מ-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הקטגוריות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נקודה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סופית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ומאוד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חשובה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אלגוריתמים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חזקים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אחרים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ואפילו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ניסינו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לעזור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הוספת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נתוני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העמוקה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ה-MLP,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ניצחה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מובהקת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מוכיח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צריך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שיודעת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למפות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קשרים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מורכבים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מבנה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גלובלי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לפרטים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מקומיים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והרשת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עשתה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בהצטיינות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לאחר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ההצלחה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במעבדה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לקחנו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למבחן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הכללה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DTD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קשוח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5,640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פראיות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שמחולקות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ל-47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קטגוריות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תיאוריות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בערך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כשהרצנו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הספקטרליים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הגענו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18.6%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למשמעות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אפילו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בכאוס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מוחלט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מהאינטרנט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חילצנו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סיגנל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טופולוגי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שגבוה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וכשהפעלנו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ההיברידי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הכפלנו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37.6%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משאירים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מאחור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אלגוריתמים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חזקים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מבוססי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אבל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הנתון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מרתק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צדקנו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וטעינו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כשמסתכלים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הקטגוריות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ימין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רואים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כיכב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גיאומטריות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מפוספס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משובץ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אופרטור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הלפלסיאן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עובד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בצורה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פנומנלית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גרפים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מחזוריים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לעומת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התרסקנו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אמורפיות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מרוח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ספירלי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כאלו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מייצרות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גרפי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דיפוזיה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כאוטיים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שפשוט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שוברים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ההנחות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הגיאומטריות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האופרטורים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ההתנהגות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התיאורטית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שהיינו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מצפים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לראות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בשקף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מציבים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העולמות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שבדקנו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לגזור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המסקנות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הסופיות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המחקר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ההבדל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באחוזי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הדיוק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מעבדה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למאגר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תמונות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מהאינטרנט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רואים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שהדפוס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חוזר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עצמו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0"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הספקטרליים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מנצחים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האקראי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בפער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אדיר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הסיגנל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הטופולוגי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המיזוג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המאפיינים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למודל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היברידי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מספק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קפיצת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המדרגה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המשמעותית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ביותר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הכפלנו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הביצועים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ב-DTD,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וקפצנו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לכמעט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שלמות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ב-KTH. </a:t>
            </a:r>
          </a:p>
          <a:p>
            <a:pPr lvl="0"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העמוקה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תמיד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מנצחת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מודלי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שמוכיח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קודם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גיאומטריה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וצבע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פחות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רלוונטי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algn="r" rtl="1"/>
            <a:r>
              <a:rPr lang="en-US" dirty="0" err="1"/>
              <a:t>והמסקנה</a:t>
            </a:r>
            <a:r>
              <a:rPr lang="en-US" dirty="0"/>
              <a:t> </a:t>
            </a:r>
            <a:r>
              <a:rPr lang="en-US" dirty="0" err="1"/>
              <a:t>החשובה</a:t>
            </a:r>
            <a:r>
              <a:rPr lang="en-US" dirty="0"/>
              <a:t> </a:t>
            </a:r>
            <a:r>
              <a:rPr lang="en-US" dirty="0" err="1"/>
              <a:t>ביותר</a:t>
            </a:r>
            <a:r>
              <a:rPr lang="en-US" dirty="0"/>
              <a:t> </a:t>
            </a:r>
            <a:r>
              <a:rPr lang="en-US" dirty="0" err="1"/>
              <a:t>שסוגרת</a:t>
            </a:r>
            <a:r>
              <a:rPr lang="en-US" dirty="0"/>
              <a:t> </a:t>
            </a:r>
            <a:r>
              <a:rPr lang="en-US" dirty="0" err="1"/>
              <a:t>לנו</a:t>
            </a:r>
            <a:r>
              <a:rPr lang="en-US" dirty="0"/>
              <a:t> </a:t>
            </a:r>
            <a:r>
              <a:rPr lang="en-US" dirty="0" err="1"/>
              <a:t>את</a:t>
            </a:r>
            <a:r>
              <a:rPr lang="en-US" dirty="0"/>
              <a:t> </a:t>
            </a:r>
            <a:r>
              <a:rPr lang="en-US" dirty="0" err="1"/>
              <a:t>התיאוריה</a:t>
            </a:r>
            <a:r>
              <a:rPr lang="en-US" dirty="0"/>
              <a:t>: </a:t>
            </a:r>
            <a:r>
              <a:rPr lang="en-US" dirty="0" err="1"/>
              <a:t>הדיוק</a:t>
            </a:r>
            <a:r>
              <a:rPr lang="en-US" dirty="0"/>
              <a:t> </a:t>
            </a:r>
            <a:r>
              <a:rPr lang="en-US" dirty="0" err="1"/>
              <a:t>שלנו</a:t>
            </a:r>
            <a:r>
              <a:rPr lang="en-US" dirty="0"/>
              <a:t> </a:t>
            </a:r>
            <a:r>
              <a:rPr lang="en-US" dirty="0" err="1"/>
              <a:t>תלוי</a:t>
            </a:r>
            <a:r>
              <a:rPr lang="en-US" dirty="0"/>
              <a:t> </a:t>
            </a:r>
            <a:r>
              <a:rPr lang="en-US" dirty="0" err="1"/>
              <a:t>ישירות</a:t>
            </a:r>
            <a:r>
              <a:rPr lang="en-US" dirty="0"/>
              <a:t> </a:t>
            </a:r>
            <a:r>
              <a:rPr lang="en-US" dirty="0" err="1"/>
              <a:t>במחזוריות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en-US" dirty="0"/>
              <a:t> </a:t>
            </a:r>
            <a:r>
              <a:rPr lang="en-US" dirty="0" err="1"/>
              <a:t>התמונה</a:t>
            </a:r>
            <a:r>
              <a:rPr lang="en-US" dirty="0"/>
              <a:t>. </a:t>
            </a:r>
            <a:r>
              <a:rPr lang="en-US" dirty="0" err="1"/>
              <a:t>קל</a:t>
            </a:r>
            <a:r>
              <a:rPr lang="en-US" dirty="0"/>
              <a:t> </a:t>
            </a:r>
            <a:r>
              <a:rPr lang="en-US" dirty="0" err="1"/>
              <a:t>מאוד</a:t>
            </a:r>
            <a:r>
              <a:rPr lang="en-US" dirty="0"/>
              <a:t> '</a:t>
            </a:r>
            <a:r>
              <a:rPr lang="en-US" dirty="0" err="1"/>
              <a:t>לשמוע</a:t>
            </a:r>
            <a:r>
              <a:rPr lang="en-US" dirty="0"/>
              <a:t>' </a:t>
            </a:r>
            <a:r>
              <a:rPr lang="en-US" dirty="0" err="1"/>
              <a:t>מבנה</a:t>
            </a:r>
            <a:r>
              <a:rPr lang="en-US" dirty="0"/>
              <a:t> </a:t>
            </a:r>
            <a:r>
              <a:rPr lang="en-US" dirty="0" err="1"/>
              <a:t>וסדר</a:t>
            </a:r>
            <a:r>
              <a:rPr lang="en-US" dirty="0"/>
              <a:t>, </a:t>
            </a:r>
            <a:r>
              <a:rPr lang="en-US" dirty="0" err="1"/>
              <a:t>אבל</a:t>
            </a:r>
            <a:r>
              <a:rPr lang="en-US" dirty="0"/>
              <a:t> </a:t>
            </a:r>
            <a:r>
              <a:rPr lang="en-US" dirty="0" err="1"/>
              <a:t>הרבה</a:t>
            </a:r>
            <a:r>
              <a:rPr lang="en-US" dirty="0"/>
              <a:t> </a:t>
            </a:r>
            <a:r>
              <a:rPr lang="en-US" dirty="0" err="1"/>
              <a:t>יותר</a:t>
            </a:r>
            <a:r>
              <a:rPr lang="en-US" dirty="0"/>
              <a:t> </a:t>
            </a:r>
            <a:r>
              <a:rPr lang="en-US" dirty="0" err="1"/>
              <a:t>קשה</a:t>
            </a:r>
            <a:r>
              <a:rPr lang="en-US" dirty="0"/>
              <a:t> '</a:t>
            </a:r>
            <a:r>
              <a:rPr lang="en-US" dirty="0" err="1"/>
              <a:t>לשמוע</a:t>
            </a:r>
            <a:r>
              <a:rPr lang="en-US" dirty="0"/>
              <a:t>' </a:t>
            </a:r>
            <a:r>
              <a:rPr lang="en-US" dirty="0" err="1"/>
              <a:t>כאוס</a:t>
            </a:r>
            <a:r>
              <a:rPr lang="en-US" dirty="0"/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לסיכום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הפרויקט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מביא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לארבע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מסקנות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מרכזיות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וברורות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:" </a:t>
            </a:r>
          </a:p>
          <a:p>
            <a:pPr marL="228600" indent="-228600" algn="r" rtl="1"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התשובה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היא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כן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אפשר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לשמוע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הספקטרום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מכיל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סיגנל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מתמטי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אמיתי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ומדיד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הרבה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מעבר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לניחוש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אקראי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 algn="r" rtl="1"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השילוב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הכרחי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טופולוגיה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גלובלית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מהגרף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יחד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מסננים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מקומיים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משלימים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ויוצרים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קפיצת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מדרגה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בביצועים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 algn="r" rtl="1"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מבנה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מנצח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צבע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טקסטורה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תופעה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גיאומטרית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צבעונית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ולכן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הוספת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נתוני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צבע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עקפה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המודלים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המבניים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הטהורים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שלנו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 algn="r" rtl="1"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רשתות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עמוקות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מנצחות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מודלי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עצים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היכולת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רשת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ה-MLP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להבין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קשרים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ספקטרליים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ומרחביים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לא-ליניאריים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היא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המפתח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להצלחה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 algn="r" rtl="1"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תודה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רבה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ההקשבה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אשמח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לענות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שאלות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3512582"/>
            <a:ext cx="15773400" cy="2468880"/>
            <a:chOff x="0" y="0"/>
            <a:chExt cx="21031200" cy="329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3291840"/>
            </a:xfrm>
            <a:custGeom>
              <a:avLst/>
              <a:gdLst/>
              <a:ahLst/>
              <a:cxnLst/>
              <a:rect l="l" t="t" r="r" b="b"/>
              <a:pathLst>
                <a:path w="21031200" h="3291840">
                  <a:moveTo>
                    <a:pt x="0" y="0"/>
                  </a:moveTo>
                  <a:lnTo>
                    <a:pt x="21031200" y="0"/>
                  </a:lnTo>
                  <a:lnTo>
                    <a:pt x="21031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487" b="-744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3310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Hearing Image Textures Through the Laplacian Spectrum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5844302"/>
            <a:ext cx="15087600" cy="685800"/>
            <a:chOff x="0" y="0"/>
            <a:chExt cx="201168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16800" cy="914400"/>
            </a:xfrm>
            <a:custGeom>
              <a:avLst/>
              <a:gdLst/>
              <a:ahLst/>
              <a:cxnLst/>
              <a:rect l="l" t="t" r="r" b="b"/>
              <a:pathLst>
                <a:path w="20116800" h="9144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 dirty="0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Can one “hear” the texture of an image?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4440" y="7406640"/>
            <a:ext cx="15087600" cy="1783080"/>
            <a:chOff x="0" y="0"/>
            <a:chExt cx="20116800" cy="237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16800" cy="2377440"/>
            </a:xfrm>
            <a:custGeom>
              <a:avLst/>
              <a:gdLst/>
              <a:ahLst/>
              <a:cxnLst/>
              <a:rect l="l" t="t" r="r" b="b"/>
              <a:pathLst>
                <a:path w="20116800" h="2377440">
                  <a:moveTo>
                    <a:pt x="0" y="0"/>
                  </a:moveTo>
                  <a:lnTo>
                    <a:pt x="20116800" y="0"/>
                  </a:lnTo>
                  <a:lnTo>
                    <a:pt x="20116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0116800" cy="2520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00"/>
                </a:lnSpc>
              </a:pPr>
              <a:r>
                <a:rPr lang="en-US" sz="2400" b="1" dirty="0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Shadi Alkeesh</a:t>
              </a:r>
            </a:p>
            <a:p>
              <a:pPr algn="l">
                <a:lnSpc>
                  <a:spcPts val="3900"/>
                </a:lnSpc>
              </a:pPr>
              <a:r>
                <a:rPr lang="en-US" sz="24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Project - </a:t>
              </a:r>
              <a:r>
                <a:rPr lang="en-US" sz="2400" dirty="0" err="1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B.Sc</a:t>
              </a:r>
              <a:r>
                <a:rPr lang="en-US" sz="24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 Applied Mathematics</a:t>
              </a:r>
            </a:p>
            <a:p>
              <a:pPr algn="l">
                <a:lnSpc>
                  <a:spcPts val="3900"/>
                </a:lnSpc>
              </a:pPr>
              <a:r>
                <a:rPr lang="en-US" sz="24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Prof. Emil </a:t>
              </a:r>
              <a:r>
                <a:rPr lang="en-US" sz="2400" dirty="0" err="1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Saucan</a:t>
              </a:r>
              <a:endParaRPr lang="en-US" sz="2400" dirty="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019253" y="144687"/>
            <a:ext cx="3091907" cy="3091907"/>
            <a:chOff x="0" y="0"/>
            <a:chExt cx="4754880" cy="4754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54880" cy="4754880"/>
            </a:xfrm>
            <a:custGeom>
              <a:avLst/>
              <a:gdLst/>
              <a:ahLst/>
              <a:cxnLst/>
              <a:rect l="l" t="t" r="r" b="b"/>
              <a:pathLst>
                <a:path w="4754880" h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1620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73310" y="798745"/>
            <a:ext cx="1783793" cy="1783793"/>
            <a:chOff x="0" y="0"/>
            <a:chExt cx="2743200" cy="2743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" name="Google Shape;54;p13">
            <a:extLst>
              <a:ext uri="{FF2B5EF4-FFF2-40B4-BE49-F238E27FC236}">
                <a16:creationId xmlns:a16="http://schemas.microsoft.com/office/drawing/2014/main" id="{C177EC2E-B91B-5991-20B0-56BDDB1825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2634" y="155893"/>
            <a:ext cx="8382731" cy="248316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2468880"/>
            <a:ext cx="617220" cy="617220"/>
            <a:chOff x="0" y="0"/>
            <a:chExt cx="82296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2468880"/>
            <a:ext cx="617220" cy="617220"/>
            <a:chOff x="0" y="0"/>
            <a:chExt cx="822960" cy="82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25980" y="2441448"/>
            <a:ext cx="7406640" cy="685800"/>
            <a:chOff x="0" y="0"/>
            <a:chExt cx="987552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Motivation: Kac's question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38360" y="2468880"/>
            <a:ext cx="617220" cy="617220"/>
            <a:chOff x="0" y="0"/>
            <a:chExt cx="822960" cy="8229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38360" y="2468880"/>
            <a:ext cx="617220" cy="617220"/>
            <a:chOff x="0" y="0"/>
            <a:chExt cx="822960" cy="822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29900" y="2441448"/>
            <a:ext cx="7406640" cy="685800"/>
            <a:chOff x="0" y="0"/>
            <a:chExt cx="987552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Mathematical foundations: image → graph → Laplacian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4440" y="4183380"/>
            <a:ext cx="617220" cy="617220"/>
            <a:chOff x="0" y="0"/>
            <a:chExt cx="822960" cy="822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4440" y="4183380"/>
            <a:ext cx="617220" cy="617220"/>
            <a:chOff x="0" y="0"/>
            <a:chExt cx="822960" cy="822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25980" y="4155948"/>
            <a:ext cx="7406640" cy="685800"/>
            <a:chOff x="0" y="0"/>
            <a:chExt cx="987552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Heat diffusion &amp; spectral signatures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38360" y="4183380"/>
            <a:ext cx="617220" cy="617220"/>
            <a:chOff x="0" y="0"/>
            <a:chExt cx="822960" cy="822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38360" y="4183380"/>
            <a:ext cx="617220" cy="617220"/>
            <a:chOff x="0" y="0"/>
            <a:chExt cx="822960" cy="822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29900" y="4155948"/>
            <a:ext cx="7406640" cy="685800"/>
            <a:chOff x="0" y="0"/>
            <a:chExt cx="987552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Laplacian variants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34440" y="5897880"/>
            <a:ext cx="617220" cy="617220"/>
            <a:chOff x="0" y="0"/>
            <a:chExt cx="822960" cy="8229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440" y="5897880"/>
            <a:ext cx="617220" cy="617220"/>
            <a:chOff x="0" y="0"/>
            <a:chExt cx="822960" cy="822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125980" y="5870448"/>
            <a:ext cx="7406640" cy="685800"/>
            <a:chOff x="0" y="0"/>
            <a:chExt cx="987552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Methodology &amp; proof of concept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738360" y="5897880"/>
            <a:ext cx="617220" cy="617220"/>
            <a:chOff x="0" y="0"/>
            <a:chExt cx="822960" cy="8229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38360" y="5897880"/>
            <a:ext cx="617220" cy="617220"/>
            <a:chOff x="0" y="0"/>
            <a:chExt cx="822960" cy="8229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29900" y="5870448"/>
            <a:ext cx="7406640" cy="685800"/>
            <a:chOff x="0" y="0"/>
            <a:chExt cx="9875520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classification on KTH-TIPS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4440" y="7612380"/>
            <a:ext cx="617220" cy="617220"/>
            <a:chOff x="0" y="0"/>
            <a:chExt cx="822960" cy="8229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34440" y="7612380"/>
            <a:ext cx="617220" cy="617220"/>
            <a:chOff x="0" y="0"/>
            <a:chExt cx="822960" cy="8229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125980" y="7584948"/>
            <a:ext cx="7406640" cy="685800"/>
            <a:chOff x="0" y="0"/>
            <a:chExt cx="9875520" cy="9144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Generalization to DTD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38360" y="7612380"/>
            <a:ext cx="617220" cy="617220"/>
            <a:chOff x="0" y="0"/>
            <a:chExt cx="822960" cy="8229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738360" y="7612380"/>
            <a:ext cx="617220" cy="617220"/>
            <a:chOff x="0" y="0"/>
            <a:chExt cx="822960" cy="8229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629900" y="7584948"/>
            <a:ext cx="7406640" cy="685800"/>
            <a:chOff x="0" y="0"/>
            <a:chExt cx="9875520" cy="9144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875520" cy="914400"/>
            </a:xfrm>
            <a:custGeom>
              <a:avLst/>
              <a:gdLst/>
              <a:ahLst/>
              <a:cxnLst/>
              <a:rect l="l" t="t" r="r" b="b"/>
              <a:pathLst>
                <a:path w="9875520" h="91440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Motivation: “Can One Hear the Shape of a Drum?”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3435" y="2047875"/>
            <a:ext cx="9894570" cy="7288530"/>
            <a:chOff x="0" y="0"/>
            <a:chExt cx="13192760" cy="9718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92761" cy="9718040"/>
            </a:xfrm>
            <a:custGeom>
              <a:avLst/>
              <a:gdLst/>
              <a:ahLst/>
              <a:cxnLst/>
              <a:rect l="l" t="t" r="r" b="b"/>
              <a:pathLst>
                <a:path w="13192761" h="97180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3046075" y="0"/>
                  </a:lnTo>
                  <a:cubicBezTo>
                    <a:pt x="13127101" y="0"/>
                    <a:pt x="13192761" y="65659"/>
                    <a:pt x="13192761" y="146685"/>
                  </a:cubicBezTo>
                  <a:lnTo>
                    <a:pt x="13192761" y="9571355"/>
                  </a:lnTo>
                  <a:cubicBezTo>
                    <a:pt x="13192761" y="9652381"/>
                    <a:pt x="13127101" y="9718040"/>
                    <a:pt x="13046075" y="9718040"/>
                  </a:cubicBezTo>
                  <a:lnTo>
                    <a:pt x="146685" y="9718040"/>
                  </a:lnTo>
                  <a:cubicBezTo>
                    <a:pt x="65659" y="9718040"/>
                    <a:pt x="0" y="9652381"/>
                    <a:pt x="0" y="957135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3020" y="2468880"/>
            <a:ext cx="8915400" cy="6446520"/>
            <a:chOff x="0" y="0"/>
            <a:chExt cx="11887200" cy="8595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87200" cy="8595360"/>
            </a:xfrm>
            <a:custGeom>
              <a:avLst/>
              <a:gdLst/>
              <a:ahLst/>
              <a:cxnLst/>
              <a:rect l="l" t="t" r="r" b="b"/>
              <a:pathLst>
                <a:path w="11887200" h="8595360">
                  <a:moveTo>
                    <a:pt x="0" y="0"/>
                  </a:moveTo>
                  <a:lnTo>
                    <a:pt x="11887200" y="0"/>
                  </a:lnTo>
                  <a:lnTo>
                    <a:pt x="11887200" y="8595360"/>
                  </a:lnTo>
                  <a:lnTo>
                    <a:pt x="0" y="859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773" r="-427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1887200" cy="8719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99"/>
                </a:lnSpc>
              </a:pPr>
              <a:r>
                <a:rPr lang="en-US" sz="2550" b="1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 Kac (1966): </a:t>
              </a: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vibrating membrane produces natural frequencies - the eigenvalues λₙ of the Laplacian ∇². Does the spectrum uniquely determine the shape?</a:t>
              </a:r>
            </a:p>
            <a:p>
              <a:pPr algn="l">
                <a:lnSpc>
                  <a:spcPts val="3899"/>
                </a:lnSpc>
              </a:pPr>
              <a:endParaRPr lang="en-US" sz="25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899"/>
                </a:lnSpc>
              </a:pPr>
              <a:r>
                <a:rPr lang="en-US" sz="2550" b="1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Gordon &amp; Webb: </a:t>
              </a: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- isospectral, non-congruent drums exist. Yet the spectrum remains a powerful geometric signature.</a:t>
              </a:r>
            </a:p>
            <a:p>
              <a:pPr algn="l">
                <a:lnSpc>
                  <a:spcPts val="3899"/>
                </a:lnSpc>
              </a:pPr>
              <a:endParaRPr lang="en-US" sz="25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899"/>
                </a:lnSpc>
              </a:pPr>
              <a:r>
                <a:rPr lang="en-US" sz="2550" b="1">
                  <a:solidFill>
                    <a:srgbClr val="5B7F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project: </a:t>
              </a:r>
              <a:r>
                <a:rPr lang="en-US" sz="25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translate the question to digital images - can the Laplacian spectrum of an image graph reveal its texture?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44400" y="2880360"/>
            <a:ext cx="4663440" cy="2057400"/>
            <a:chOff x="0" y="0"/>
            <a:chExt cx="6217920" cy="2743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17920" cy="2743200"/>
            </a:xfrm>
            <a:custGeom>
              <a:avLst/>
              <a:gdLst/>
              <a:ahLst/>
              <a:cxnLst/>
              <a:rect l="l" t="t" r="r" b="b"/>
              <a:pathLst>
                <a:path w="6217920" h="2743200">
                  <a:moveTo>
                    <a:pt x="0" y="1371600"/>
                  </a:moveTo>
                  <a:cubicBezTo>
                    <a:pt x="0" y="614045"/>
                    <a:pt x="1391920" y="0"/>
                    <a:pt x="3108960" y="0"/>
                  </a:cubicBezTo>
                  <a:cubicBezTo>
                    <a:pt x="4826000" y="0"/>
                    <a:pt x="6217920" y="614045"/>
                    <a:pt x="6217920" y="1371600"/>
                  </a:cubicBezTo>
                  <a:cubicBezTo>
                    <a:pt x="6217920" y="2129155"/>
                    <a:pt x="4826000" y="2743200"/>
                    <a:pt x="3108960" y="2743200"/>
                  </a:cubicBezTo>
                  <a:cubicBezTo>
                    <a:pt x="1391920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24460" y="3223260"/>
            <a:ext cx="3703320" cy="1371600"/>
            <a:chOff x="0" y="0"/>
            <a:chExt cx="4937760" cy="182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37760" cy="1828800"/>
            </a:xfrm>
            <a:custGeom>
              <a:avLst/>
              <a:gdLst/>
              <a:ahLst/>
              <a:cxnLst/>
              <a:rect l="l" t="t" r="r" b="b"/>
              <a:pathLst>
                <a:path w="4937760" h="1828800">
                  <a:moveTo>
                    <a:pt x="0" y="914400"/>
                  </a:moveTo>
                  <a:cubicBezTo>
                    <a:pt x="0" y="409448"/>
                    <a:pt x="1105408" y="0"/>
                    <a:pt x="2468880" y="0"/>
                  </a:cubicBezTo>
                  <a:cubicBezTo>
                    <a:pt x="3832352" y="0"/>
                    <a:pt x="4937760" y="409448"/>
                    <a:pt x="4937760" y="914400"/>
                  </a:cubicBezTo>
                  <a:cubicBezTo>
                    <a:pt x="4937760" y="1419352"/>
                    <a:pt x="3832352" y="1828800"/>
                    <a:pt x="2468880" y="1828800"/>
                  </a:cubicBezTo>
                  <a:cubicBezTo>
                    <a:pt x="110540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CADCF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44400" y="5486400"/>
            <a:ext cx="4663440" cy="685800"/>
            <a:chOff x="0" y="0"/>
            <a:chExt cx="621792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2179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i="1">
                  <a:solidFill>
                    <a:srgbClr val="1E2761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λ₀, λ₁, λ₂, 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70080" y="6240780"/>
            <a:ext cx="5212080" cy="548640"/>
            <a:chOff x="0" y="0"/>
            <a:chExt cx="69494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49440" cy="731520"/>
            </a:xfrm>
            <a:custGeom>
              <a:avLst/>
              <a:gdLst/>
              <a:ahLst/>
              <a:cxnLst/>
              <a:rect l="l" t="t" r="r" b="b"/>
              <a:pathLst>
                <a:path w="6949440" h="73152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107" b="-13510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B76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frequencies = eigenvalues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Image to Graph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263140"/>
            <a:ext cx="617220" cy="617220"/>
            <a:chOff x="0" y="0"/>
            <a:chExt cx="82296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2263140"/>
            <a:ext cx="617220" cy="617220"/>
            <a:chOff x="0" y="0"/>
            <a:chExt cx="822960" cy="82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51660" y="2194560"/>
            <a:ext cx="4389120" cy="685800"/>
            <a:chOff x="0" y="0"/>
            <a:chExt cx="585216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Vertices V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51660" y="2811780"/>
            <a:ext cx="9052560" cy="1097280"/>
            <a:chOff x="0" y="0"/>
            <a:chExt cx="12070080" cy="1463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20700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pixel becomes a node of the graph G = (V, E, W).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0120" y="4114800"/>
            <a:ext cx="617220" cy="617220"/>
            <a:chOff x="0" y="0"/>
            <a:chExt cx="822960" cy="822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4114800"/>
            <a:ext cx="617220" cy="617220"/>
            <a:chOff x="0" y="0"/>
            <a:chExt cx="822960" cy="822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51660" y="4046220"/>
            <a:ext cx="4389120" cy="685800"/>
            <a:chOff x="0" y="0"/>
            <a:chExt cx="585216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Edges 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51660" y="4663440"/>
            <a:ext cx="9052560" cy="1097280"/>
            <a:chOff x="0" y="0"/>
            <a:chExt cx="12070080" cy="1463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0700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8-connectivity between neighboring pixels.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0120" y="5966460"/>
            <a:ext cx="617220" cy="617220"/>
            <a:chOff x="0" y="0"/>
            <a:chExt cx="822960" cy="8229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0120" y="5966460"/>
            <a:ext cx="617220" cy="617220"/>
            <a:chOff x="0" y="0"/>
            <a:chExt cx="822960" cy="822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51660" y="5897880"/>
            <a:ext cx="4389120" cy="685800"/>
            <a:chOff x="0" y="0"/>
            <a:chExt cx="585216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Weights 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851660" y="6515100"/>
            <a:ext cx="9052560" cy="1097280"/>
            <a:chOff x="0" y="0"/>
            <a:chExt cx="1207008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070080" cy="1463040"/>
            </a:xfrm>
            <a:custGeom>
              <a:avLst/>
              <a:gdLst/>
              <a:ahLst/>
              <a:cxnLst/>
              <a:rect l="l" t="t" r="r" b="b"/>
              <a:pathLst>
                <a:path w="12070080" h="146304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20700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Gaussian kernel on intensity difference:  wᵢⱼ = exp(−(Iᵢ−Iⱼ)² / 2σ²)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60120" y="7818120"/>
            <a:ext cx="617220" cy="617220"/>
            <a:chOff x="0" y="0"/>
            <a:chExt cx="822960" cy="8229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0120" y="7818120"/>
            <a:ext cx="617220" cy="617220"/>
            <a:chOff x="0" y="0"/>
            <a:chExt cx="822960" cy="8229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851660" y="7749540"/>
            <a:ext cx="4389120" cy="685800"/>
            <a:chOff x="0" y="0"/>
            <a:chExt cx="585216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Laplacian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851660" y="8366760"/>
            <a:ext cx="9181171" cy="1097280"/>
            <a:chOff x="0" y="0"/>
            <a:chExt cx="12241561" cy="14630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241561" cy="1463040"/>
            </a:xfrm>
            <a:custGeom>
              <a:avLst/>
              <a:gdLst/>
              <a:ahLst/>
              <a:cxnLst/>
              <a:rect l="l" t="t" r="r" b="b"/>
              <a:pathLst>
                <a:path w="12241561" h="1463040">
                  <a:moveTo>
                    <a:pt x="0" y="0"/>
                  </a:moveTo>
                  <a:lnTo>
                    <a:pt x="12241561" y="0"/>
                  </a:lnTo>
                  <a:lnTo>
                    <a:pt x="12241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r="1400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12241561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 = D − W;  normalized: Lₛᵧₘ = I − D^−½ W D^−½, eigenvalues bounded in [0, 2].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rot="108360">
            <a:off x="12851092" y="31314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AutoShape 50"/>
          <p:cNvSpPr/>
          <p:nvPr/>
        </p:nvSpPr>
        <p:spPr>
          <a:xfrm rot="5291640">
            <a:off x="12288736" y="36937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" name="AutoShape 51"/>
          <p:cNvSpPr/>
          <p:nvPr/>
        </p:nvSpPr>
        <p:spPr>
          <a:xfrm rot="108360">
            <a:off x="14222692" y="31314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AutoShape 52"/>
          <p:cNvSpPr/>
          <p:nvPr/>
        </p:nvSpPr>
        <p:spPr>
          <a:xfrm rot="5291640">
            <a:off x="13660336" y="36937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 rot="5291640">
            <a:off x="15031936" y="36937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 rot="108360">
            <a:off x="12851092" y="45030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 rot="5291640">
            <a:off x="12288736" y="50653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 rot="108360">
            <a:off x="14222692" y="45030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57"/>
          <p:cNvSpPr/>
          <p:nvPr/>
        </p:nvSpPr>
        <p:spPr>
          <a:xfrm rot="5291640">
            <a:off x="13660336" y="50653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AutoShape 58"/>
          <p:cNvSpPr/>
          <p:nvPr/>
        </p:nvSpPr>
        <p:spPr>
          <a:xfrm rot="5291640">
            <a:off x="15031936" y="5065395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AutoShape 59"/>
          <p:cNvSpPr/>
          <p:nvPr/>
        </p:nvSpPr>
        <p:spPr>
          <a:xfrm rot="108360">
            <a:off x="12851092" y="58746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" name="AutoShape 60"/>
          <p:cNvSpPr/>
          <p:nvPr/>
        </p:nvSpPr>
        <p:spPr>
          <a:xfrm rot="108360">
            <a:off x="14222692" y="5874639"/>
            <a:ext cx="90684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1" name="Group 61"/>
          <p:cNvGrpSpPr/>
          <p:nvPr/>
        </p:nvGrpSpPr>
        <p:grpSpPr>
          <a:xfrm>
            <a:off x="12591288" y="2990088"/>
            <a:ext cx="329184" cy="329184"/>
            <a:chOff x="0" y="0"/>
            <a:chExt cx="438912" cy="43891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962888" y="2990088"/>
            <a:ext cx="329184" cy="329184"/>
            <a:chOff x="0" y="0"/>
            <a:chExt cx="438912" cy="43891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334488" y="2990088"/>
            <a:ext cx="329184" cy="329184"/>
            <a:chOff x="0" y="0"/>
            <a:chExt cx="438912" cy="43891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591288" y="4361688"/>
            <a:ext cx="329184" cy="329184"/>
            <a:chOff x="0" y="0"/>
            <a:chExt cx="438912" cy="43891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962888" y="4361688"/>
            <a:ext cx="329184" cy="329184"/>
            <a:chOff x="0" y="0"/>
            <a:chExt cx="438912" cy="43891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334488" y="4361688"/>
            <a:ext cx="329184" cy="329184"/>
            <a:chOff x="0" y="0"/>
            <a:chExt cx="438912" cy="43891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591288" y="5733288"/>
            <a:ext cx="329184" cy="329184"/>
            <a:chOff x="0" y="0"/>
            <a:chExt cx="438912" cy="4389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962888" y="5733288"/>
            <a:ext cx="329184" cy="329184"/>
            <a:chOff x="0" y="0"/>
            <a:chExt cx="438912" cy="43891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334488" y="5733288"/>
            <a:ext cx="329184" cy="329184"/>
            <a:chOff x="0" y="0"/>
            <a:chExt cx="438912" cy="43891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932920" y="6858000"/>
            <a:ext cx="4937760" cy="548640"/>
            <a:chOff x="0" y="0"/>
            <a:chExt cx="658368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B76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pixels → weighted graph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Texture as a Diffusion Barrier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988820"/>
            <a:ext cx="16459200" cy="754380"/>
            <a:chOff x="0" y="0"/>
            <a:chExt cx="21945600" cy="1005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005840"/>
            </a:xfrm>
            <a:custGeom>
              <a:avLst/>
              <a:gdLst/>
              <a:ahLst/>
              <a:cxnLst/>
              <a:rect l="l" t="t" r="r" b="b"/>
              <a:pathLst>
                <a:path w="21945600" h="1005840">
                  <a:moveTo>
                    <a:pt x="0" y="0"/>
                  </a:moveTo>
                  <a:lnTo>
                    <a:pt x="21945600" y="0"/>
                  </a:lnTo>
                  <a:lnTo>
                    <a:pt x="21945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5128" b="-3751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i="1">
                  <a:solidFill>
                    <a:srgbClr val="1E2761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Discrete heat equation:  dh/dt = −L·h   →   heat kernel  Kₜ = e^{−Lt} = Φ e^{−Λt} Φᵀ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3145155"/>
            <a:ext cx="8111490" cy="5916930"/>
            <a:chOff x="0" y="0"/>
            <a:chExt cx="10815320" cy="7889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15320" cy="7889240"/>
            </a:xfrm>
            <a:custGeom>
              <a:avLst/>
              <a:gdLst/>
              <a:ahLst/>
              <a:cxnLst/>
              <a:rect l="l" t="t" r="r" b="b"/>
              <a:pathLst>
                <a:path w="10815320" h="7889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7742555"/>
                  </a:lnTo>
                  <a:cubicBezTo>
                    <a:pt x="10815320" y="7823581"/>
                    <a:pt x="10749661" y="7889240"/>
                    <a:pt x="10668635" y="7889240"/>
                  </a:cubicBezTo>
                  <a:lnTo>
                    <a:pt x="146685" y="7889240"/>
                  </a:lnTo>
                  <a:cubicBezTo>
                    <a:pt x="65659" y="7889240"/>
                    <a:pt x="0" y="7823581"/>
                    <a:pt x="0" y="774255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566160"/>
            <a:ext cx="7269480" cy="685800"/>
            <a:chOff x="0" y="0"/>
            <a:chExt cx="969264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969264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Smooth textures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4389120"/>
            <a:ext cx="7269480" cy="2194560"/>
            <a:chOff x="0" y="0"/>
            <a:chExt cx="9692640" cy="2926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92640" cy="2926080"/>
            </a:xfrm>
            <a:custGeom>
              <a:avLst/>
              <a:gdLst/>
              <a:ahLst/>
              <a:cxnLst/>
              <a:rect l="l" t="t" r="r" b="b"/>
              <a:pathLst>
                <a:path w="9692640" h="2926080">
                  <a:moveTo>
                    <a:pt x="0" y="0"/>
                  </a:moveTo>
                  <a:lnTo>
                    <a:pt x="9692640" y="0"/>
                  </a:lnTo>
                  <a:lnTo>
                    <a:pt x="96926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544" b="-145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969264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intensity gradients → large weights → heat diffuses rapidly and isotropically. Spectrum dominated by low eigenvalues (global structure).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77640" y="6858000"/>
            <a:ext cx="2057400" cy="1783080"/>
            <a:chOff x="0" y="0"/>
            <a:chExt cx="2743200" cy="2377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3200" cy="2377440"/>
            </a:xfrm>
            <a:custGeom>
              <a:avLst/>
              <a:gdLst/>
              <a:ahLst/>
              <a:cxnLst/>
              <a:rect l="l" t="t" r="r" b="b"/>
              <a:pathLst>
                <a:path w="2743200" h="2377440">
                  <a:moveTo>
                    <a:pt x="0" y="1188720"/>
                  </a:moveTo>
                  <a:cubicBezTo>
                    <a:pt x="0" y="532257"/>
                    <a:pt x="614045" y="0"/>
                    <a:pt x="1371600" y="0"/>
                  </a:cubicBezTo>
                  <a:cubicBezTo>
                    <a:pt x="2129155" y="0"/>
                    <a:pt x="2743200" y="532257"/>
                    <a:pt x="2743200" y="1188720"/>
                  </a:cubicBezTo>
                  <a:cubicBezTo>
                    <a:pt x="2743200" y="1845183"/>
                    <a:pt x="2129155" y="2377440"/>
                    <a:pt x="1371600" y="2377440"/>
                  </a:cubicBezTo>
                  <a:cubicBezTo>
                    <a:pt x="614045" y="2377440"/>
                    <a:pt x="0" y="1845183"/>
                    <a:pt x="0" y="1188720"/>
                  </a:cubicBezTo>
                  <a:close/>
                </a:path>
              </a:pathLst>
            </a:custGeom>
            <a:solidFill>
              <a:srgbClr val="5B7FE8">
                <a:alpha val="1568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57700" y="7269480"/>
            <a:ext cx="1097280" cy="960120"/>
            <a:chOff x="0" y="0"/>
            <a:chExt cx="1463040" cy="12801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3040" cy="1280160"/>
            </a:xfrm>
            <a:custGeom>
              <a:avLst/>
              <a:gdLst/>
              <a:ahLst/>
              <a:cxnLst/>
              <a:rect l="l" t="t" r="r" b="b"/>
              <a:pathLst>
                <a:path w="1463040" h="1280160">
                  <a:moveTo>
                    <a:pt x="0" y="640080"/>
                  </a:moveTo>
                  <a:cubicBezTo>
                    <a:pt x="0" y="286512"/>
                    <a:pt x="327533" y="0"/>
                    <a:pt x="731520" y="0"/>
                  </a:cubicBezTo>
                  <a:cubicBezTo>
                    <a:pt x="1135507" y="0"/>
                    <a:pt x="1463040" y="286512"/>
                    <a:pt x="1463040" y="640080"/>
                  </a:cubicBezTo>
                  <a:cubicBezTo>
                    <a:pt x="1463040" y="993648"/>
                    <a:pt x="1135507" y="1280160"/>
                    <a:pt x="731520" y="1280160"/>
                  </a:cubicBezTo>
                  <a:cubicBezTo>
                    <a:pt x="327533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54515" y="3145155"/>
            <a:ext cx="8111490" cy="5916930"/>
            <a:chOff x="0" y="0"/>
            <a:chExt cx="10815320" cy="7889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15320" cy="7889240"/>
            </a:xfrm>
            <a:custGeom>
              <a:avLst/>
              <a:gdLst/>
              <a:ahLst/>
              <a:cxnLst/>
              <a:rect l="l" t="t" r="r" b="b"/>
              <a:pathLst>
                <a:path w="10815320" h="7889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7742555"/>
                  </a:lnTo>
                  <a:cubicBezTo>
                    <a:pt x="10815320" y="7823581"/>
                    <a:pt x="10749661" y="7889240"/>
                    <a:pt x="10668635" y="7889240"/>
                  </a:cubicBezTo>
                  <a:lnTo>
                    <a:pt x="146685" y="7889240"/>
                  </a:lnTo>
                  <a:cubicBezTo>
                    <a:pt x="65659" y="7889240"/>
                    <a:pt x="0" y="7823581"/>
                    <a:pt x="0" y="774255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75520" y="3566160"/>
            <a:ext cx="7269480" cy="685800"/>
            <a:chOff x="0" y="0"/>
            <a:chExt cx="969264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969264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Rough / noisy textures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75520" y="4389120"/>
            <a:ext cx="7269480" cy="2194560"/>
            <a:chOff x="0" y="0"/>
            <a:chExt cx="9692640" cy="2926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92640" cy="2926080"/>
            </a:xfrm>
            <a:custGeom>
              <a:avLst/>
              <a:gdLst/>
              <a:ahLst/>
              <a:cxnLst/>
              <a:rect l="l" t="t" r="r" b="b"/>
              <a:pathLst>
                <a:path w="9692640" h="2926080">
                  <a:moveTo>
                    <a:pt x="0" y="0"/>
                  </a:moveTo>
                  <a:lnTo>
                    <a:pt x="9692640" y="0"/>
                  </a:lnTo>
                  <a:lnTo>
                    <a:pt x="96926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544" b="-145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14300"/>
              <a:ext cx="969264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Rapid intensity changes → small weights act as barriers → heat stays localized and fragmented. High-frequency energy in the spectrum.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344400" y="6995160"/>
            <a:ext cx="480060" cy="411480"/>
            <a:chOff x="0" y="0"/>
            <a:chExt cx="6400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40">
                  <a:moveTo>
                    <a:pt x="0" y="274320"/>
                  </a:moveTo>
                  <a:cubicBezTo>
                    <a:pt x="0" y="122809"/>
                    <a:pt x="143256" y="0"/>
                    <a:pt x="320040" y="0"/>
                  </a:cubicBezTo>
                  <a:cubicBezTo>
                    <a:pt x="496824" y="0"/>
                    <a:pt x="640080" y="122809"/>
                    <a:pt x="640080" y="274320"/>
                  </a:cubicBezTo>
                  <a:cubicBezTo>
                    <a:pt x="640080" y="425831"/>
                    <a:pt x="496824" y="548640"/>
                    <a:pt x="320040" y="548640"/>
                  </a:cubicBezTo>
                  <a:cubicBezTo>
                    <a:pt x="143256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167360" y="7543800"/>
            <a:ext cx="480060" cy="411480"/>
            <a:chOff x="0" y="0"/>
            <a:chExt cx="64008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40">
                  <a:moveTo>
                    <a:pt x="0" y="274320"/>
                  </a:moveTo>
                  <a:cubicBezTo>
                    <a:pt x="0" y="122809"/>
                    <a:pt x="143256" y="0"/>
                    <a:pt x="320040" y="0"/>
                  </a:cubicBezTo>
                  <a:cubicBezTo>
                    <a:pt x="496824" y="0"/>
                    <a:pt x="640080" y="122809"/>
                    <a:pt x="640080" y="274320"/>
                  </a:cubicBezTo>
                  <a:cubicBezTo>
                    <a:pt x="640080" y="425831"/>
                    <a:pt x="496824" y="548640"/>
                    <a:pt x="320040" y="548640"/>
                  </a:cubicBezTo>
                  <a:cubicBezTo>
                    <a:pt x="143256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127480" y="6858000"/>
            <a:ext cx="480060" cy="411480"/>
            <a:chOff x="0" y="0"/>
            <a:chExt cx="64008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40">
                  <a:moveTo>
                    <a:pt x="0" y="274320"/>
                  </a:moveTo>
                  <a:cubicBezTo>
                    <a:pt x="0" y="122809"/>
                    <a:pt x="143256" y="0"/>
                    <a:pt x="320040" y="0"/>
                  </a:cubicBezTo>
                  <a:cubicBezTo>
                    <a:pt x="496824" y="0"/>
                    <a:pt x="640080" y="122809"/>
                    <a:pt x="640080" y="274320"/>
                  </a:cubicBezTo>
                  <a:cubicBezTo>
                    <a:pt x="640080" y="425831"/>
                    <a:pt x="496824" y="548640"/>
                    <a:pt x="320040" y="548640"/>
                  </a:cubicBezTo>
                  <a:cubicBezTo>
                    <a:pt x="143256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893040" y="8229600"/>
            <a:ext cx="480060" cy="411480"/>
            <a:chOff x="0" y="0"/>
            <a:chExt cx="64008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40">
                  <a:moveTo>
                    <a:pt x="0" y="274320"/>
                  </a:moveTo>
                  <a:cubicBezTo>
                    <a:pt x="0" y="122809"/>
                    <a:pt x="143256" y="0"/>
                    <a:pt x="320040" y="0"/>
                  </a:cubicBezTo>
                  <a:cubicBezTo>
                    <a:pt x="496824" y="0"/>
                    <a:pt x="640080" y="122809"/>
                    <a:pt x="640080" y="274320"/>
                  </a:cubicBezTo>
                  <a:cubicBezTo>
                    <a:pt x="640080" y="425831"/>
                    <a:pt x="496824" y="548640"/>
                    <a:pt x="320040" y="548640"/>
                  </a:cubicBezTo>
                  <a:cubicBezTo>
                    <a:pt x="143256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53160" y="8092440"/>
            <a:ext cx="480060" cy="411480"/>
            <a:chOff x="0" y="0"/>
            <a:chExt cx="64008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40">
                  <a:moveTo>
                    <a:pt x="0" y="274320"/>
                  </a:moveTo>
                  <a:cubicBezTo>
                    <a:pt x="0" y="122809"/>
                    <a:pt x="143256" y="0"/>
                    <a:pt x="320040" y="0"/>
                  </a:cubicBezTo>
                  <a:cubicBezTo>
                    <a:pt x="496824" y="0"/>
                    <a:pt x="640080" y="122809"/>
                    <a:pt x="640080" y="274320"/>
                  </a:cubicBezTo>
                  <a:cubicBezTo>
                    <a:pt x="640080" y="425831"/>
                    <a:pt x="496824" y="548640"/>
                    <a:pt x="320040" y="548640"/>
                  </a:cubicBezTo>
                  <a:cubicBezTo>
                    <a:pt x="143256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Spectral Signatures of Texture Classes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322195"/>
            <a:ext cx="16341090" cy="2076450"/>
            <a:chOff x="0" y="0"/>
            <a:chExt cx="21788120" cy="2768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88120" cy="2768600"/>
            </a:xfrm>
            <a:custGeom>
              <a:avLst/>
              <a:gdLst/>
              <a:ahLst/>
              <a:cxnLst/>
              <a:rect l="l" t="t" r="r" b="b"/>
              <a:pathLst>
                <a:path w="21788120" h="27686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640419" y="0"/>
                  </a:lnTo>
                  <a:cubicBezTo>
                    <a:pt x="21721953" y="0"/>
                    <a:pt x="21788120" y="66167"/>
                    <a:pt x="21788120" y="147701"/>
                  </a:cubicBezTo>
                  <a:lnTo>
                    <a:pt x="21788120" y="2620899"/>
                  </a:lnTo>
                  <a:cubicBezTo>
                    <a:pt x="21788120" y="2702433"/>
                    <a:pt x="21721953" y="2768600"/>
                    <a:pt x="216404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2606040"/>
            <a:ext cx="4937760" cy="685800"/>
            <a:chOff x="0" y="0"/>
            <a:chExt cx="658368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83680" cy="914400"/>
            </a:xfrm>
            <a:custGeom>
              <a:avLst/>
              <a:gdLst/>
              <a:ahLst/>
              <a:cxnLst/>
              <a:rect l="l" t="t" r="r" b="b"/>
              <a:pathLst>
                <a:path w="6583680" h="91440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5836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Smooth / homogeneous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360420"/>
            <a:ext cx="4937760" cy="548640"/>
            <a:chOff x="0" y="0"/>
            <a:chExt cx="65836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Clear sky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20840" y="2606040"/>
            <a:ext cx="10149840" cy="1508760"/>
            <a:chOff x="0" y="0"/>
            <a:chExt cx="13533120" cy="20116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33120" cy="2011680"/>
            </a:xfrm>
            <a:custGeom>
              <a:avLst/>
              <a:gdLst/>
              <a:ahLst/>
              <a:cxnLst/>
              <a:rect l="l" t="t" r="r" b="b"/>
              <a:pathLst>
                <a:path w="13533120" h="2011680">
                  <a:moveTo>
                    <a:pt x="0" y="0"/>
                  </a:moveTo>
                  <a:lnTo>
                    <a:pt x="13533120" y="0"/>
                  </a:lnTo>
                  <a:lnTo>
                    <a:pt x="13533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081" b="-810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3533120" cy="2068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Spectrum concentrated in very low eigenvalues; rapid decay.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0595" y="4722495"/>
            <a:ext cx="16341090" cy="2076450"/>
            <a:chOff x="0" y="0"/>
            <a:chExt cx="21788120" cy="276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88120" cy="2768600"/>
            </a:xfrm>
            <a:custGeom>
              <a:avLst/>
              <a:gdLst/>
              <a:ahLst/>
              <a:cxnLst/>
              <a:rect l="l" t="t" r="r" b="b"/>
              <a:pathLst>
                <a:path w="21788120" h="27686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640419" y="0"/>
                  </a:lnTo>
                  <a:cubicBezTo>
                    <a:pt x="21721953" y="0"/>
                    <a:pt x="21788120" y="66167"/>
                    <a:pt x="21788120" y="147701"/>
                  </a:cubicBezTo>
                  <a:lnTo>
                    <a:pt x="21788120" y="2620899"/>
                  </a:lnTo>
                  <a:cubicBezTo>
                    <a:pt x="21788120" y="2702433"/>
                    <a:pt x="21721953" y="2768600"/>
                    <a:pt x="216404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1600" y="5006340"/>
            <a:ext cx="4937760" cy="685800"/>
            <a:chOff x="0" y="0"/>
            <a:chExt cx="658368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83680" cy="914400"/>
            </a:xfrm>
            <a:custGeom>
              <a:avLst/>
              <a:gdLst/>
              <a:ahLst/>
              <a:cxnLst/>
              <a:rect l="l" t="t" r="r" b="b"/>
              <a:pathLst>
                <a:path w="6583680" h="91440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65836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Periodic / structured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1600" y="5760720"/>
            <a:ext cx="4937760" cy="548640"/>
            <a:chOff x="0" y="0"/>
            <a:chExt cx="658368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Honeycomb, corduroy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0840" y="5006340"/>
            <a:ext cx="10149840" cy="1508760"/>
            <a:chOff x="0" y="0"/>
            <a:chExt cx="13533120" cy="20116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533120" cy="2011680"/>
            </a:xfrm>
            <a:custGeom>
              <a:avLst/>
              <a:gdLst/>
              <a:ahLst/>
              <a:cxnLst/>
              <a:rect l="l" t="t" r="r" b="b"/>
              <a:pathLst>
                <a:path w="13533120" h="2011680">
                  <a:moveTo>
                    <a:pt x="0" y="0"/>
                  </a:moveTo>
                  <a:lnTo>
                    <a:pt x="13533120" y="0"/>
                  </a:lnTo>
                  <a:lnTo>
                    <a:pt x="13533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081" b="-810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3533120" cy="2068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“Peaked” spectrum - eigenvalue clusters reflect spatial periodicity.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0595" y="7122795"/>
            <a:ext cx="16341090" cy="2076450"/>
            <a:chOff x="0" y="0"/>
            <a:chExt cx="21788120" cy="2768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88120" cy="2768600"/>
            </a:xfrm>
            <a:custGeom>
              <a:avLst/>
              <a:gdLst/>
              <a:ahLst/>
              <a:cxnLst/>
              <a:rect l="l" t="t" r="r" b="b"/>
              <a:pathLst>
                <a:path w="21788120" h="27686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640419" y="0"/>
                  </a:lnTo>
                  <a:cubicBezTo>
                    <a:pt x="21721953" y="0"/>
                    <a:pt x="21788120" y="66167"/>
                    <a:pt x="21788120" y="147701"/>
                  </a:cubicBezTo>
                  <a:lnTo>
                    <a:pt x="21788120" y="2620899"/>
                  </a:lnTo>
                  <a:cubicBezTo>
                    <a:pt x="21788120" y="2702433"/>
                    <a:pt x="21721953" y="2768600"/>
                    <a:pt x="216404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1600" y="7406640"/>
            <a:ext cx="4937760" cy="685800"/>
            <a:chOff x="0" y="0"/>
            <a:chExt cx="658368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83680" cy="914400"/>
            </a:xfrm>
            <a:custGeom>
              <a:avLst/>
              <a:gdLst/>
              <a:ahLst/>
              <a:cxnLst/>
              <a:rect l="l" t="t" r="r" b="b"/>
              <a:pathLst>
                <a:path w="6583680" h="91440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65836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Stochastic / rough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71600" y="8161020"/>
            <a:ext cx="4937760" cy="548640"/>
            <a:chOff x="0" y="0"/>
            <a:chExt cx="658368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White noise, gravel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20840" y="7406640"/>
            <a:ext cx="10149840" cy="1508760"/>
            <a:chOff x="0" y="0"/>
            <a:chExt cx="13533120" cy="20116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533120" cy="2011680"/>
            </a:xfrm>
            <a:custGeom>
              <a:avLst/>
              <a:gdLst/>
              <a:ahLst/>
              <a:cxnLst/>
              <a:rect l="l" t="t" r="r" b="b"/>
              <a:pathLst>
                <a:path w="13533120" h="2011680">
                  <a:moveTo>
                    <a:pt x="0" y="0"/>
                  </a:moveTo>
                  <a:lnTo>
                    <a:pt x="13533120" y="0"/>
                  </a:lnTo>
                  <a:lnTo>
                    <a:pt x="13533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081" b="-810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3533120" cy="2068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Near-uniform eigenvalue distribution; strong high-frequency presence.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Four Variants of the Graph Laplacian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322195"/>
            <a:ext cx="7974330" cy="3173730"/>
            <a:chOff x="0" y="0"/>
            <a:chExt cx="10632440" cy="4231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32440" cy="4231640"/>
            </a:xfrm>
            <a:custGeom>
              <a:avLst/>
              <a:gdLst/>
              <a:ahLst/>
              <a:cxnLst/>
              <a:rect l="l" t="t" r="r" b="b"/>
              <a:pathLst>
                <a:path w="10632440" h="4231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485247" y="0"/>
                  </a:lnTo>
                  <a:cubicBezTo>
                    <a:pt x="10566527" y="0"/>
                    <a:pt x="10632440" y="65913"/>
                    <a:pt x="10632440" y="147193"/>
                  </a:cubicBezTo>
                  <a:lnTo>
                    <a:pt x="10632440" y="4084447"/>
                  </a:lnTo>
                  <a:cubicBezTo>
                    <a:pt x="10632440" y="4165727"/>
                    <a:pt x="10566527" y="4231640"/>
                    <a:pt x="104852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2674620"/>
            <a:ext cx="7132320" cy="822960"/>
            <a:chOff x="0" y="0"/>
            <a:chExt cx="950976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Unnormalized  L = D − 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566160"/>
            <a:ext cx="7132320" cy="1645920"/>
            <a:chOff x="0" y="0"/>
            <a:chExt cx="9509760" cy="2194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09760" cy="2194560"/>
            </a:xfrm>
            <a:custGeom>
              <a:avLst/>
              <a:gdLst/>
              <a:ahLst/>
              <a:cxnLst/>
              <a:rect l="l" t="t" r="r" b="b"/>
              <a:pathLst>
                <a:path w="9509760" h="21945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9509760" cy="2280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Separates smooth vs. noisy, but spectrum unbounded and sensitive to illumination/contrast scale.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17355" y="2322195"/>
            <a:ext cx="7974330" cy="3173730"/>
            <a:chOff x="0" y="0"/>
            <a:chExt cx="10632440" cy="4231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32440" cy="4231640"/>
            </a:xfrm>
            <a:custGeom>
              <a:avLst/>
              <a:gdLst/>
              <a:ahLst/>
              <a:cxnLst/>
              <a:rect l="l" t="t" r="r" b="b"/>
              <a:pathLst>
                <a:path w="10632440" h="4231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485247" y="0"/>
                  </a:lnTo>
                  <a:cubicBezTo>
                    <a:pt x="10566527" y="0"/>
                    <a:pt x="10632440" y="65913"/>
                    <a:pt x="10632440" y="147193"/>
                  </a:cubicBezTo>
                  <a:lnTo>
                    <a:pt x="10632440" y="4084447"/>
                  </a:lnTo>
                  <a:cubicBezTo>
                    <a:pt x="10632440" y="4165727"/>
                    <a:pt x="10566527" y="4231640"/>
                    <a:pt x="104852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38360" y="2674620"/>
            <a:ext cx="7132320" cy="822960"/>
            <a:chOff x="0" y="0"/>
            <a:chExt cx="9509760" cy="1097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Symmetric Normalized  Lₛᵧₘ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38360" y="3566160"/>
            <a:ext cx="7132320" cy="1645920"/>
            <a:chOff x="0" y="0"/>
            <a:chExt cx="9509760" cy="21945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2194560"/>
            </a:xfrm>
            <a:custGeom>
              <a:avLst/>
              <a:gdLst/>
              <a:ahLst/>
              <a:cxnLst/>
              <a:rect l="l" t="t" r="r" b="b"/>
              <a:pathLst>
                <a:path w="9509760" h="21945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9509760" cy="2280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Eigenvalues bounded in [0, 2]; remarkably stable, scale-invariant - chosen for the pipeline.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0595" y="5888355"/>
            <a:ext cx="7974330" cy="3173730"/>
            <a:chOff x="0" y="0"/>
            <a:chExt cx="10632440" cy="4231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32440" cy="4231640"/>
            </a:xfrm>
            <a:custGeom>
              <a:avLst/>
              <a:gdLst/>
              <a:ahLst/>
              <a:cxnLst/>
              <a:rect l="l" t="t" r="r" b="b"/>
              <a:pathLst>
                <a:path w="10632440" h="4231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485247" y="0"/>
                  </a:lnTo>
                  <a:cubicBezTo>
                    <a:pt x="10566527" y="0"/>
                    <a:pt x="10632440" y="65913"/>
                    <a:pt x="10632440" y="147193"/>
                  </a:cubicBezTo>
                  <a:lnTo>
                    <a:pt x="10632440" y="4084447"/>
                  </a:lnTo>
                  <a:cubicBezTo>
                    <a:pt x="10632440" y="4165727"/>
                    <a:pt x="10566527" y="4231640"/>
                    <a:pt x="104852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1600" y="6240780"/>
            <a:ext cx="7132320" cy="822960"/>
            <a:chOff x="0" y="0"/>
            <a:chExt cx="9509760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Forman 1-Laplacian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71600" y="7132320"/>
            <a:ext cx="7132320" cy="1645920"/>
            <a:chOff x="0" y="0"/>
            <a:chExt cx="9509760" cy="21945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09760" cy="2194560"/>
            </a:xfrm>
            <a:custGeom>
              <a:avLst/>
              <a:gdLst/>
              <a:ahLst/>
              <a:cxnLst/>
              <a:rect l="l" t="t" r="r" b="b"/>
              <a:pathLst>
                <a:path w="9509760" h="21945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9509760" cy="2280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Combinatorial, topology-driven; “blind” to texture unless signal-weighted; linked to discrete Ricci curvature.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17355" y="5888355"/>
            <a:ext cx="7974330" cy="3173730"/>
            <a:chOff x="0" y="0"/>
            <a:chExt cx="10632440" cy="4231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32440" cy="4231640"/>
            </a:xfrm>
            <a:custGeom>
              <a:avLst/>
              <a:gdLst/>
              <a:ahLst/>
              <a:cxnLst/>
              <a:rect l="l" t="t" r="r" b="b"/>
              <a:pathLst>
                <a:path w="10632440" h="4231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485247" y="0"/>
                  </a:lnTo>
                  <a:cubicBezTo>
                    <a:pt x="10566527" y="0"/>
                    <a:pt x="10632440" y="65913"/>
                    <a:pt x="10632440" y="147193"/>
                  </a:cubicBezTo>
                  <a:lnTo>
                    <a:pt x="10632440" y="4084447"/>
                  </a:lnTo>
                  <a:cubicBezTo>
                    <a:pt x="10632440" y="4165727"/>
                    <a:pt x="10566527" y="4231640"/>
                    <a:pt x="104852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38360" y="6240780"/>
            <a:ext cx="7132320" cy="822960"/>
            <a:chOff x="0" y="0"/>
            <a:chExt cx="9509760" cy="10972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Geometric Laplace-Beltrami (Burago)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38360" y="7132320"/>
            <a:ext cx="7132320" cy="1645920"/>
            <a:chOff x="0" y="0"/>
            <a:chExt cx="9509760" cy="21945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509760" cy="2194560"/>
            </a:xfrm>
            <a:custGeom>
              <a:avLst/>
              <a:gdLst/>
              <a:ahLst/>
              <a:cxnLst/>
              <a:rect l="l" t="t" r="r" b="b"/>
              <a:pathLst>
                <a:path w="9509760" h="21945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9509760" cy="2280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Radius-based connectivity; elegant and grid-artifact-free, but computationally intensive.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Two Benchmarks, Two Worlds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322195"/>
            <a:ext cx="8111490" cy="6877050"/>
            <a:chOff x="0" y="0"/>
            <a:chExt cx="10815320" cy="9169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15320" cy="9169400"/>
            </a:xfrm>
            <a:custGeom>
              <a:avLst/>
              <a:gdLst/>
              <a:ahLst/>
              <a:cxnLst/>
              <a:rect l="l" t="t" r="r" b="b"/>
              <a:pathLst>
                <a:path w="10815320" h="91694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9022715"/>
                  </a:lnTo>
                  <a:cubicBezTo>
                    <a:pt x="10815320" y="9103741"/>
                    <a:pt x="10749661" y="9169400"/>
                    <a:pt x="10668635" y="9169400"/>
                  </a:cubicBezTo>
                  <a:lnTo>
                    <a:pt x="146685" y="9169400"/>
                  </a:lnTo>
                  <a:cubicBezTo>
                    <a:pt x="65659" y="9169400"/>
                    <a:pt x="0" y="9103741"/>
                    <a:pt x="0" y="902271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2743200"/>
            <a:ext cx="7269480" cy="685800"/>
            <a:chOff x="0" y="0"/>
            <a:chExt cx="969264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969264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KTH-TIPS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497580"/>
            <a:ext cx="7269480" cy="548640"/>
            <a:chOff x="0" y="0"/>
            <a:chExt cx="96926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2640" cy="731520"/>
            </a:xfrm>
            <a:custGeom>
              <a:avLst/>
              <a:gdLst/>
              <a:ahLst/>
              <a:cxnLst/>
              <a:rect l="l" t="t" r="r" b="b"/>
              <a:pathLst>
                <a:path w="9692640" h="73152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176" b="-2081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Material-centric · controlled lab conditions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4320540"/>
            <a:ext cx="7269480" cy="4526280"/>
            <a:chOff x="0" y="0"/>
            <a:chExt cx="9692640" cy="6035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92640" cy="6035040"/>
            </a:xfrm>
            <a:custGeom>
              <a:avLst/>
              <a:gdLst/>
              <a:ahLst/>
              <a:cxnLst/>
              <a:rect l="l" t="t" r="r" b="b"/>
              <a:pathLst>
                <a:path w="9692640" h="6035040">
                  <a:moveTo>
                    <a:pt x="0" y="0"/>
                  </a:moveTo>
                  <a:lnTo>
                    <a:pt x="9692640" y="0"/>
                  </a:lnTo>
                  <a:lnTo>
                    <a:pt x="969264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r="-298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692640" cy="6082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material classes (corduroy, sponge, linen, …)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810 grayscale samples; 81 per class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Systematic variation in illumination, scale, and pose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Textures are periodic → structured graph Laplacians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54515" y="2322195"/>
            <a:ext cx="8111490" cy="6877050"/>
            <a:chOff x="0" y="0"/>
            <a:chExt cx="10815320" cy="9169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15320" cy="9169400"/>
            </a:xfrm>
            <a:custGeom>
              <a:avLst/>
              <a:gdLst/>
              <a:ahLst/>
              <a:cxnLst/>
              <a:rect l="l" t="t" r="r" b="b"/>
              <a:pathLst>
                <a:path w="10815320" h="91694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9022715"/>
                  </a:lnTo>
                  <a:cubicBezTo>
                    <a:pt x="10815320" y="9103741"/>
                    <a:pt x="10749661" y="9169400"/>
                    <a:pt x="10668635" y="9169400"/>
                  </a:cubicBezTo>
                  <a:lnTo>
                    <a:pt x="146685" y="9169400"/>
                  </a:lnTo>
                  <a:cubicBezTo>
                    <a:pt x="65659" y="9169400"/>
                    <a:pt x="0" y="9103741"/>
                    <a:pt x="0" y="902271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75520" y="2743200"/>
            <a:ext cx="7269480" cy="685800"/>
            <a:chOff x="0" y="0"/>
            <a:chExt cx="969264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69264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DTD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75520" y="3497580"/>
            <a:ext cx="7269480" cy="548640"/>
            <a:chOff x="0" y="0"/>
            <a:chExt cx="969264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92640" cy="731520"/>
            </a:xfrm>
            <a:custGeom>
              <a:avLst/>
              <a:gdLst/>
              <a:ahLst/>
              <a:cxnLst/>
              <a:rect l="l" t="t" r="r" b="b"/>
              <a:pathLst>
                <a:path w="9692640" h="73152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176" b="-2081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Descriptive · unconstrained “in-the-wild”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75520" y="4320540"/>
            <a:ext cx="7269480" cy="4526280"/>
            <a:chOff x="0" y="0"/>
            <a:chExt cx="9692640" cy="6035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92640" cy="6035040"/>
            </a:xfrm>
            <a:custGeom>
              <a:avLst/>
              <a:gdLst/>
              <a:ahLst/>
              <a:cxnLst/>
              <a:rect l="l" t="t" r="r" b="b"/>
              <a:pathLst>
                <a:path w="9692640" h="6035040">
                  <a:moveTo>
                    <a:pt x="0" y="0"/>
                  </a:moveTo>
                  <a:lnTo>
                    <a:pt x="9692640" y="0"/>
                  </a:lnTo>
                  <a:lnTo>
                    <a:pt x="969264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r="-298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692640" cy="6082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47 perceptual categories (banded, smeared, bubbly, …)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5,640 real-world images; 120 per class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Extreme intra-class diversity, clutter, distortion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Often non-periodic → chaotic, amorphous graphs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Methodology: The Spectral Analysis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733675"/>
            <a:ext cx="3996690" cy="5368290"/>
            <a:chOff x="0" y="0"/>
            <a:chExt cx="5328920" cy="71577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28920" cy="7157720"/>
            </a:xfrm>
            <a:custGeom>
              <a:avLst/>
              <a:gdLst/>
              <a:ahLst/>
              <a:cxnLst/>
              <a:rect l="l" t="t" r="r" b="b"/>
              <a:pathLst>
                <a:path w="5328920" h="715772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81854" y="0"/>
                  </a:lnTo>
                  <a:cubicBezTo>
                    <a:pt x="5263007" y="0"/>
                    <a:pt x="5328920" y="65786"/>
                    <a:pt x="5328920" y="147066"/>
                  </a:cubicBezTo>
                  <a:lnTo>
                    <a:pt x="5328920" y="7010654"/>
                  </a:lnTo>
                  <a:cubicBezTo>
                    <a:pt x="5328920" y="7091807"/>
                    <a:pt x="5263134" y="7157720"/>
                    <a:pt x="5181854" y="7157720"/>
                  </a:cubicBezTo>
                  <a:lnTo>
                    <a:pt x="147066" y="7157720"/>
                  </a:lnTo>
                  <a:cubicBezTo>
                    <a:pt x="65786" y="7157720"/>
                    <a:pt x="0" y="7091934"/>
                    <a:pt x="0" y="7010654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3020" y="3154680"/>
            <a:ext cx="617220" cy="617220"/>
            <a:chOff x="0" y="0"/>
            <a:chExt cx="822960" cy="82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3020" y="3154680"/>
            <a:ext cx="617220" cy="617220"/>
            <a:chOff x="0" y="0"/>
            <a:chExt cx="822960" cy="822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3020" y="4046220"/>
            <a:ext cx="3291840" cy="1097280"/>
            <a:chOff x="0" y="0"/>
            <a:chExt cx="4389120" cy="1463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Pre-processing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3020" y="5074920"/>
            <a:ext cx="3291840" cy="2743200"/>
            <a:chOff x="0" y="0"/>
            <a:chExt cx="4389120" cy="3657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9120" cy="3657600"/>
            </a:xfrm>
            <a:custGeom>
              <a:avLst/>
              <a:gdLst/>
              <a:ahLst/>
              <a:cxnLst/>
              <a:rect l="l" t="t" r="r" b="b"/>
              <a:pathLst>
                <a:path w="4389120" h="365760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4389120" cy="3743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Grayscale conversion; downsample to 50–64 px — roughness is preserved at low resolution.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4947285" y="5370658"/>
            <a:ext cx="323850" cy="1442"/>
          </a:xfrm>
          <a:prstGeom prst="line">
            <a:avLst/>
          </a:prstGeom>
          <a:ln w="28575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5271135" y="2733675"/>
            <a:ext cx="3996690" cy="5368290"/>
            <a:chOff x="0" y="0"/>
            <a:chExt cx="5328920" cy="7157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28920" cy="7157720"/>
            </a:xfrm>
            <a:custGeom>
              <a:avLst/>
              <a:gdLst/>
              <a:ahLst/>
              <a:cxnLst/>
              <a:rect l="l" t="t" r="r" b="b"/>
              <a:pathLst>
                <a:path w="5328920" h="715772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81854" y="0"/>
                  </a:lnTo>
                  <a:cubicBezTo>
                    <a:pt x="5263007" y="0"/>
                    <a:pt x="5328920" y="65786"/>
                    <a:pt x="5328920" y="147066"/>
                  </a:cubicBezTo>
                  <a:lnTo>
                    <a:pt x="5328920" y="7010654"/>
                  </a:lnTo>
                  <a:cubicBezTo>
                    <a:pt x="5328920" y="7091807"/>
                    <a:pt x="5263134" y="7157720"/>
                    <a:pt x="5181854" y="7157720"/>
                  </a:cubicBezTo>
                  <a:lnTo>
                    <a:pt x="147066" y="7157720"/>
                  </a:lnTo>
                  <a:cubicBezTo>
                    <a:pt x="65786" y="7157720"/>
                    <a:pt x="0" y="7091934"/>
                    <a:pt x="0" y="7010654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23560" y="3154680"/>
            <a:ext cx="617220" cy="617220"/>
            <a:chOff x="0" y="0"/>
            <a:chExt cx="822960" cy="822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23560" y="3154680"/>
            <a:ext cx="617220" cy="617220"/>
            <a:chOff x="0" y="0"/>
            <a:chExt cx="822960" cy="822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23560" y="4046220"/>
            <a:ext cx="3291840" cy="1097280"/>
            <a:chOff x="0" y="0"/>
            <a:chExt cx="4389120" cy="1463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construction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23560" y="5074920"/>
            <a:ext cx="3291840" cy="2743200"/>
            <a:chOff x="0" y="0"/>
            <a:chExt cx="4389120" cy="3657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9120" cy="3657600"/>
            </a:xfrm>
            <a:custGeom>
              <a:avLst/>
              <a:gdLst/>
              <a:ahLst/>
              <a:cxnLst/>
              <a:rect l="l" t="t" r="r" b="b"/>
              <a:pathLst>
                <a:path w="4389120" h="365760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4389120" cy="3743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8-connectivity grid; Gaussian edge weights on intensity differences; sparse CSR storage.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9234486" y="5394007"/>
            <a:ext cx="357189" cy="0"/>
          </a:xfrm>
          <a:prstGeom prst="line">
            <a:avLst/>
          </a:prstGeom>
          <a:ln w="28575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9591675" y="2733675"/>
            <a:ext cx="3996690" cy="5368290"/>
            <a:chOff x="0" y="0"/>
            <a:chExt cx="5328920" cy="7157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28920" cy="7157720"/>
            </a:xfrm>
            <a:custGeom>
              <a:avLst/>
              <a:gdLst/>
              <a:ahLst/>
              <a:cxnLst/>
              <a:rect l="l" t="t" r="r" b="b"/>
              <a:pathLst>
                <a:path w="5328920" h="715772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81854" y="0"/>
                  </a:lnTo>
                  <a:cubicBezTo>
                    <a:pt x="5263007" y="0"/>
                    <a:pt x="5328920" y="65786"/>
                    <a:pt x="5328920" y="147066"/>
                  </a:cubicBezTo>
                  <a:lnTo>
                    <a:pt x="5328920" y="7010654"/>
                  </a:lnTo>
                  <a:cubicBezTo>
                    <a:pt x="5328920" y="7091807"/>
                    <a:pt x="5263134" y="7157720"/>
                    <a:pt x="5181854" y="7157720"/>
                  </a:cubicBezTo>
                  <a:lnTo>
                    <a:pt x="147066" y="7157720"/>
                  </a:lnTo>
                  <a:cubicBezTo>
                    <a:pt x="65786" y="7157720"/>
                    <a:pt x="0" y="7091934"/>
                    <a:pt x="0" y="7010654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44100" y="3154680"/>
            <a:ext cx="617220" cy="617220"/>
            <a:chOff x="0" y="0"/>
            <a:chExt cx="822960" cy="8229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44100" y="3154680"/>
            <a:ext cx="617220" cy="617220"/>
            <a:chOff x="0" y="0"/>
            <a:chExt cx="822960" cy="8229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944100" y="4046220"/>
            <a:ext cx="3291840" cy="1097280"/>
            <a:chOff x="0" y="0"/>
            <a:chExt cx="4389120" cy="14630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Laplacian computation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944100" y="5074920"/>
            <a:ext cx="3291840" cy="2743200"/>
            <a:chOff x="0" y="0"/>
            <a:chExt cx="4389120" cy="3657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89120" cy="3657600"/>
            </a:xfrm>
            <a:custGeom>
              <a:avLst/>
              <a:gdLst/>
              <a:ahLst/>
              <a:cxnLst/>
              <a:rect l="l" t="t" r="r" b="b"/>
              <a:pathLst>
                <a:path w="4389120" h="365760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4389120" cy="3743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Lₛᵧₘ = I − D^−½ W D^−½ — bounded, comparable spectra across images.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13588365" y="5417820"/>
            <a:ext cx="323850" cy="0"/>
          </a:xfrm>
          <a:prstGeom prst="line">
            <a:avLst/>
          </a:prstGeom>
          <a:ln w="28575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7" name="Group 47"/>
          <p:cNvGrpSpPr/>
          <p:nvPr/>
        </p:nvGrpSpPr>
        <p:grpSpPr>
          <a:xfrm>
            <a:off x="13912215" y="2733675"/>
            <a:ext cx="3996690" cy="5368290"/>
            <a:chOff x="0" y="0"/>
            <a:chExt cx="5328920" cy="71577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28920" cy="7157720"/>
            </a:xfrm>
            <a:custGeom>
              <a:avLst/>
              <a:gdLst/>
              <a:ahLst/>
              <a:cxnLst/>
              <a:rect l="l" t="t" r="r" b="b"/>
              <a:pathLst>
                <a:path w="5328920" h="715772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81854" y="0"/>
                  </a:lnTo>
                  <a:cubicBezTo>
                    <a:pt x="5263007" y="0"/>
                    <a:pt x="5328920" y="65786"/>
                    <a:pt x="5328920" y="147066"/>
                  </a:cubicBezTo>
                  <a:lnTo>
                    <a:pt x="5328920" y="7010654"/>
                  </a:lnTo>
                  <a:cubicBezTo>
                    <a:pt x="5328920" y="7091807"/>
                    <a:pt x="5263134" y="7157720"/>
                    <a:pt x="5181854" y="7157720"/>
                  </a:cubicBezTo>
                  <a:lnTo>
                    <a:pt x="147066" y="7157720"/>
                  </a:lnTo>
                  <a:cubicBezTo>
                    <a:pt x="65786" y="7157720"/>
                    <a:pt x="0" y="7091934"/>
                    <a:pt x="0" y="7010654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264640" y="3154680"/>
            <a:ext cx="617220" cy="617220"/>
            <a:chOff x="0" y="0"/>
            <a:chExt cx="822960" cy="8229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264640" y="3154680"/>
            <a:ext cx="617220" cy="617220"/>
            <a:chOff x="0" y="0"/>
            <a:chExt cx="822960" cy="8229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264640" y="4046220"/>
            <a:ext cx="3291840" cy="1097280"/>
            <a:chOff x="0" y="0"/>
            <a:chExt cx="4389120" cy="14630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Spectral extraction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264640" y="5074920"/>
            <a:ext cx="3291840" cy="2743200"/>
            <a:chOff x="0" y="0"/>
            <a:chExt cx="4389120" cy="3657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389120" cy="3657600"/>
            </a:xfrm>
            <a:custGeom>
              <a:avLst/>
              <a:gdLst/>
              <a:ahLst/>
              <a:cxnLst/>
              <a:rect l="l" t="t" r="r" b="b"/>
              <a:pathLst>
                <a:path w="4389120" h="365760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85725"/>
              <a:ext cx="4389120" cy="3743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eigsh (ARPACK) solver → first k = 50 non-trivial eigenvalues = the “spectral signature”.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0120" y="8641080"/>
            <a:ext cx="16459200" cy="685800"/>
            <a:chOff x="0" y="0"/>
            <a:chExt cx="2194560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945600" cy="914400"/>
            </a:xfrm>
            <a:custGeom>
              <a:avLst/>
              <a:gdLst/>
              <a:ahLst/>
              <a:cxnLst/>
              <a:rect l="l" t="t" r="r" b="b"/>
              <a:pathLst>
                <a:path w="21945600" h="9144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219456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 · NumPy · SciPy sparse · OpenCV / Pillow · Matplotlib · PyTorch · XGBoost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Proof of Concept: Sky vs. White Noise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263140"/>
            <a:ext cx="617220" cy="617220"/>
            <a:chOff x="0" y="0"/>
            <a:chExt cx="82296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2263140"/>
            <a:ext cx="617220" cy="617220"/>
            <a:chOff x="0" y="0"/>
            <a:chExt cx="822960" cy="82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51660" y="2194560"/>
            <a:ext cx="6309360" cy="685800"/>
            <a:chOff x="0" y="0"/>
            <a:chExt cx="841248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412480" cy="914400"/>
            </a:xfrm>
            <a:custGeom>
              <a:avLst/>
              <a:gdLst/>
              <a:ahLst/>
              <a:cxnLst/>
              <a:rect l="l" t="t" r="r" b="b"/>
              <a:pathLst>
                <a:path w="8412480" h="91440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Eigenvalue distribution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51660" y="2811780"/>
            <a:ext cx="9601200" cy="1097280"/>
            <a:chOff x="0" y="0"/>
            <a:chExt cx="12801600" cy="1463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01600" cy="1463040"/>
            </a:xfrm>
            <a:custGeom>
              <a:avLst/>
              <a:gdLst/>
              <a:ahLst/>
              <a:cxnLst/>
              <a:rect l="l" t="t" r="r" b="b"/>
              <a:pathLst>
                <a:path w="12801600" h="1463040">
                  <a:moveTo>
                    <a:pt x="0" y="0"/>
                  </a:moveTo>
                  <a:lnTo>
                    <a:pt x="12801600" y="0"/>
                  </a:lnTo>
                  <a:lnTo>
                    <a:pt x="12801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80160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Sky rises gradually; noise spectrum climbs faster - energy shifted to high frequencies.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0120" y="4114800"/>
            <a:ext cx="617220" cy="617220"/>
            <a:chOff x="0" y="0"/>
            <a:chExt cx="822960" cy="822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4114800"/>
            <a:ext cx="617220" cy="617220"/>
            <a:chOff x="0" y="0"/>
            <a:chExt cx="822960" cy="822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51660" y="4046220"/>
            <a:ext cx="6309360" cy="685800"/>
            <a:chOff x="0" y="0"/>
            <a:chExt cx="841248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0" cy="914400"/>
            </a:xfrm>
            <a:custGeom>
              <a:avLst/>
              <a:gdLst/>
              <a:ahLst/>
              <a:cxnLst/>
              <a:rect l="l" t="t" r="r" b="b"/>
              <a:pathLst>
                <a:path w="8412480" h="91440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Diffusion matrix P = D⁻¹W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51660" y="4663440"/>
            <a:ext cx="9601200" cy="1097280"/>
            <a:chOff x="0" y="0"/>
            <a:chExt cx="12801600" cy="1463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01600" cy="1463040"/>
            </a:xfrm>
            <a:custGeom>
              <a:avLst/>
              <a:gdLst/>
              <a:ahLst/>
              <a:cxnLst/>
              <a:rect l="l" t="t" r="r" b="b"/>
              <a:pathLst>
                <a:path w="12801600" h="1463040">
                  <a:moveTo>
                    <a:pt x="0" y="0"/>
                  </a:moveTo>
                  <a:lnTo>
                    <a:pt x="12801600" y="0"/>
                  </a:lnTo>
                  <a:lnTo>
                    <a:pt x="12801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280160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Sky: continuous diagonal band. Noise: speckled, interrupted - diffusion barriers.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0120" y="5966460"/>
            <a:ext cx="617220" cy="617220"/>
            <a:chOff x="0" y="0"/>
            <a:chExt cx="822960" cy="8229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5B7F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0120" y="5966460"/>
            <a:ext cx="617220" cy="617220"/>
            <a:chOff x="0" y="0"/>
            <a:chExt cx="822960" cy="822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51660" y="5897880"/>
            <a:ext cx="6309360" cy="685800"/>
            <a:chOff x="0" y="0"/>
            <a:chExt cx="841248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412480" cy="914400"/>
            </a:xfrm>
            <a:custGeom>
              <a:avLst/>
              <a:gdLst/>
              <a:ahLst/>
              <a:cxnLst/>
              <a:rect l="l" t="t" r="r" b="b"/>
              <a:pathLst>
                <a:path w="8412480" h="91440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Heat simulation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851660" y="6515100"/>
            <a:ext cx="9601200" cy="1097280"/>
            <a:chOff x="0" y="0"/>
            <a:chExt cx="1280160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00" cy="1463040"/>
            </a:xfrm>
            <a:custGeom>
              <a:avLst/>
              <a:gdLst/>
              <a:ahLst/>
              <a:cxnLst/>
              <a:rect l="l" t="t" r="r" b="b"/>
              <a:pathLst>
                <a:path w="12801600" h="1463040">
                  <a:moveTo>
                    <a:pt x="0" y="0"/>
                  </a:moveTo>
                  <a:lnTo>
                    <a:pt x="12801600" y="0"/>
                  </a:lnTo>
                  <a:lnTo>
                    <a:pt x="12801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280160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Sky: isotropic circular spread. Noise: heat localized, fragmented, retarded.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62102" y="1405591"/>
            <a:ext cx="5093970" cy="6328410"/>
            <a:chOff x="0" y="0"/>
            <a:chExt cx="6791960" cy="84378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791960" cy="8437880"/>
            </a:xfrm>
            <a:custGeom>
              <a:avLst/>
              <a:gdLst/>
              <a:ahLst/>
              <a:cxnLst/>
              <a:rect l="l" t="t" r="r" b="b"/>
              <a:pathLst>
                <a:path w="6791960" h="84378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645148" y="0"/>
                  </a:lnTo>
                  <a:cubicBezTo>
                    <a:pt x="6726301" y="0"/>
                    <a:pt x="6791960" y="65786"/>
                    <a:pt x="6791960" y="146812"/>
                  </a:cubicBezTo>
                  <a:lnTo>
                    <a:pt x="6791960" y="8291068"/>
                  </a:lnTo>
                  <a:cubicBezTo>
                    <a:pt x="6791960" y="8372222"/>
                    <a:pt x="6726174" y="8437880"/>
                    <a:pt x="664514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145947" y="1826596"/>
            <a:ext cx="4526280" cy="685800"/>
            <a:chOff x="0" y="0"/>
            <a:chExt cx="603504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60350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 spectral energy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145947" y="2649556"/>
            <a:ext cx="4526280" cy="1097280"/>
            <a:chOff x="0" y="0"/>
            <a:chExt cx="6035040" cy="14630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035040" cy="1463040"/>
            </a:xfrm>
            <a:custGeom>
              <a:avLst/>
              <a:gdLst/>
              <a:ahLst/>
              <a:cxnLst/>
              <a:rect l="l" t="t" r="r" b="b"/>
              <a:pathLst>
                <a:path w="6035040" h="1463040">
                  <a:moveTo>
                    <a:pt x="0" y="0"/>
                  </a:moveTo>
                  <a:lnTo>
                    <a:pt x="6035040" y="0"/>
                  </a:lnTo>
                  <a:lnTo>
                    <a:pt x="6035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60350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0.0808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145947" y="3746836"/>
            <a:ext cx="4526280" cy="548640"/>
            <a:chOff x="0" y="0"/>
            <a:chExt cx="603504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6035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Sky (smooth)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145947" y="4706956"/>
            <a:ext cx="4526280" cy="1097280"/>
            <a:chOff x="0" y="0"/>
            <a:chExt cx="6035040" cy="14630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35040" cy="1463040"/>
            </a:xfrm>
            <a:custGeom>
              <a:avLst/>
              <a:gdLst/>
              <a:ahLst/>
              <a:cxnLst/>
              <a:rect l="l" t="t" r="r" b="b"/>
              <a:pathLst>
                <a:path w="6035040" h="1463040">
                  <a:moveTo>
                    <a:pt x="0" y="0"/>
                  </a:moveTo>
                  <a:lnTo>
                    <a:pt x="6035040" y="0"/>
                  </a:lnTo>
                  <a:lnTo>
                    <a:pt x="6035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375" b="-30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60350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5B7FE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0.0280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145947" y="5804236"/>
            <a:ext cx="4526280" cy="548640"/>
            <a:chOff x="0" y="0"/>
            <a:chExt cx="6035040" cy="731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6035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White noise (rough)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145947" y="6764356"/>
            <a:ext cx="4526280" cy="822960"/>
            <a:chOff x="0" y="0"/>
            <a:chExt cx="6035040" cy="10972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035040" cy="1097280"/>
            </a:xfrm>
            <a:custGeom>
              <a:avLst/>
              <a:gdLst/>
              <a:ahLst/>
              <a:cxnLst/>
              <a:rect l="l" t="t" r="r" b="b"/>
              <a:pathLst>
                <a:path w="6035040" h="1097280">
                  <a:moveTo>
                    <a:pt x="0" y="0"/>
                  </a:moveTo>
                  <a:lnTo>
                    <a:pt x="6035040" y="0"/>
                  </a:lnTo>
                  <a:lnTo>
                    <a:pt x="6035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0350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quantitative “sound” of texture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1028700" y="7895926"/>
            <a:ext cx="7435313" cy="2137652"/>
          </a:xfrm>
          <a:custGeom>
            <a:avLst/>
            <a:gdLst/>
            <a:ahLst/>
            <a:cxnLst/>
            <a:rect l="l" t="t" r="r" b="b"/>
            <a:pathLst>
              <a:path w="7435313" h="2137652">
                <a:moveTo>
                  <a:pt x="0" y="0"/>
                </a:moveTo>
                <a:lnTo>
                  <a:pt x="7435313" y="0"/>
                </a:lnTo>
                <a:lnTo>
                  <a:pt x="7435313" y="2137653"/>
                </a:lnTo>
                <a:lnTo>
                  <a:pt x="0" y="2137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9480825" y="8000527"/>
            <a:ext cx="7071486" cy="2033052"/>
          </a:xfrm>
          <a:custGeom>
            <a:avLst/>
            <a:gdLst/>
            <a:ahLst/>
            <a:cxnLst/>
            <a:rect l="l" t="t" r="r" b="b"/>
            <a:pathLst>
              <a:path w="7071486" h="2033052">
                <a:moveTo>
                  <a:pt x="0" y="0"/>
                </a:moveTo>
                <a:lnTo>
                  <a:pt x="7071486" y="0"/>
                </a:lnTo>
                <a:lnTo>
                  <a:pt x="7071486" y="2033052"/>
                </a:lnTo>
                <a:lnTo>
                  <a:pt x="0" y="2033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Spectrum Alone Isn’t Enough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988820"/>
            <a:ext cx="16459200" cy="685800"/>
            <a:chOff x="0" y="0"/>
            <a:chExt cx="219456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914400"/>
            </a:xfrm>
            <a:custGeom>
              <a:avLst/>
              <a:gdLst/>
              <a:ahLst/>
              <a:cxnLst/>
              <a:rect l="l" t="t" r="r" b="b"/>
              <a:pathLst>
                <a:path w="21945600" h="9144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9456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Spectral baseline on KTH-TIPS: 61.11% — strong, but the confusion matrix reveals its limits.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3007995"/>
            <a:ext cx="8111490" cy="5916930"/>
            <a:chOff x="0" y="0"/>
            <a:chExt cx="10815320" cy="7889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15320" cy="7889240"/>
            </a:xfrm>
            <a:custGeom>
              <a:avLst/>
              <a:gdLst/>
              <a:ahLst/>
              <a:cxnLst/>
              <a:rect l="l" t="t" r="r" b="b"/>
              <a:pathLst>
                <a:path w="10815320" h="7889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7742555"/>
                  </a:lnTo>
                  <a:cubicBezTo>
                    <a:pt x="10815320" y="7823581"/>
                    <a:pt x="10749661" y="7889240"/>
                    <a:pt x="10668635" y="7889240"/>
                  </a:cubicBezTo>
                  <a:lnTo>
                    <a:pt x="146685" y="7889240"/>
                  </a:lnTo>
                  <a:cubicBezTo>
                    <a:pt x="65659" y="7889240"/>
                    <a:pt x="0" y="7823581"/>
                    <a:pt x="0" y="7742555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429000"/>
            <a:ext cx="7269480" cy="685800"/>
            <a:chOff x="0" y="0"/>
            <a:chExt cx="969264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6926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Confusable pairs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4251960"/>
            <a:ext cx="7269480" cy="4114800"/>
            <a:chOff x="0" y="0"/>
            <a:chExt cx="9692640" cy="548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92640" cy="5486400"/>
            </a:xfrm>
            <a:custGeom>
              <a:avLst/>
              <a:gdLst/>
              <a:ahLst/>
              <a:cxnLst/>
              <a:rect l="l" t="t" r="r" b="b"/>
              <a:pathLst>
                <a:path w="9692640" h="5486400">
                  <a:moveTo>
                    <a:pt x="0" y="0"/>
                  </a:moveTo>
                  <a:lnTo>
                    <a:pt x="9692640" y="0"/>
                  </a:lnTo>
                  <a:lnTo>
                    <a:pt x="96926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24" r="-226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692640" cy="5534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sponge ↔ brown bread - both porous; global Laplacian graphs yield near-identical eigenvalue distributions.</a:t>
              </a:r>
            </a:p>
            <a:p>
              <a:pPr marL="393621" lvl="1" indent="-196810" algn="l">
                <a:lnSpc>
                  <a:spcPts val="2610"/>
                </a:lnSpc>
                <a:buFont typeface="Arial"/>
                <a:buChar char="•"/>
              </a:pPr>
              <a:r>
                <a:rPr lang="en-US" sz="2175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cotton ↔ linen - woven fabrics with overlapping spectral signatures.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54515" y="3007995"/>
            <a:ext cx="8111490" cy="5916930"/>
            <a:chOff x="0" y="0"/>
            <a:chExt cx="10815320" cy="78892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15320" cy="7889240"/>
            </a:xfrm>
            <a:custGeom>
              <a:avLst/>
              <a:gdLst/>
              <a:ahLst/>
              <a:cxnLst/>
              <a:rect l="l" t="t" r="r" b="b"/>
              <a:pathLst>
                <a:path w="10815320" h="788924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668635" y="0"/>
                  </a:lnTo>
                  <a:cubicBezTo>
                    <a:pt x="10749661" y="0"/>
                    <a:pt x="10815320" y="65659"/>
                    <a:pt x="10815320" y="146685"/>
                  </a:cubicBezTo>
                  <a:lnTo>
                    <a:pt x="10815320" y="7742555"/>
                  </a:lnTo>
                  <a:cubicBezTo>
                    <a:pt x="10815320" y="7823581"/>
                    <a:pt x="10749661" y="7889240"/>
                    <a:pt x="10668635" y="7889240"/>
                  </a:cubicBezTo>
                  <a:lnTo>
                    <a:pt x="146685" y="7889240"/>
                  </a:lnTo>
                  <a:cubicBezTo>
                    <a:pt x="65659" y="7889240"/>
                    <a:pt x="0" y="7823581"/>
                    <a:pt x="0" y="7742555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75520" y="3429000"/>
            <a:ext cx="7269480" cy="685800"/>
            <a:chOff x="0" y="0"/>
            <a:chExt cx="969264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96926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diagnosis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75520" y="4251960"/>
            <a:ext cx="7269480" cy="4114800"/>
            <a:chOff x="0" y="0"/>
            <a:chExt cx="9692640" cy="548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92640" cy="5486400"/>
            </a:xfrm>
            <a:custGeom>
              <a:avLst/>
              <a:gdLst/>
              <a:ahLst/>
              <a:cxnLst/>
              <a:rect l="l" t="t" r="r" b="b"/>
              <a:pathLst>
                <a:path w="9692640" h="5486400">
                  <a:moveTo>
                    <a:pt x="0" y="0"/>
                  </a:moveTo>
                  <a:lnTo>
                    <a:pt x="9692640" y="0"/>
                  </a:lnTo>
                  <a:lnTo>
                    <a:pt x="96926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24" r="-226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9692640" cy="5591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175">
                  <a:solidFill>
                    <a:srgbClr val="D8E2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spectrum encodes macroscopic connectivity but compresses localized high-frequency variation. Materials sharing a global topology need local descriptors — LBP, GLCM, Gabor — to be separated. This observation directly motivates the hybrid architecture.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Spectral–Classical Hybrid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322195"/>
            <a:ext cx="4956810" cy="3036570"/>
            <a:chOff x="0" y="0"/>
            <a:chExt cx="6609080" cy="40487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9080" cy="4048760"/>
            </a:xfrm>
            <a:custGeom>
              <a:avLst/>
              <a:gdLst/>
              <a:ahLst/>
              <a:cxnLst/>
              <a:rect l="l" t="t" r="r" b="b"/>
              <a:pathLst>
                <a:path w="6609080" h="404876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61887" y="0"/>
                  </a:lnTo>
                  <a:cubicBezTo>
                    <a:pt x="6543167" y="0"/>
                    <a:pt x="6609080" y="65913"/>
                    <a:pt x="6609080" y="147193"/>
                  </a:cubicBezTo>
                  <a:lnTo>
                    <a:pt x="6609080" y="3901567"/>
                  </a:lnTo>
                  <a:cubicBezTo>
                    <a:pt x="6609080" y="3982847"/>
                    <a:pt x="6543167" y="4048760"/>
                    <a:pt x="646188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2606040"/>
            <a:ext cx="4389120" cy="685800"/>
            <a:chOff x="0" y="0"/>
            <a:chExt cx="585216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8521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Spectral features (168)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3248" y="3291840"/>
            <a:ext cx="4389120" cy="1783080"/>
            <a:chOff x="0" y="0"/>
            <a:chExt cx="585216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52160" cy="2377440"/>
            </a:xfrm>
            <a:custGeom>
              <a:avLst/>
              <a:gdLst/>
              <a:ahLst/>
              <a:cxnLst/>
              <a:rect l="l" t="t" r="r" b="b"/>
              <a:pathLst>
                <a:path w="5852160" h="237744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r="-21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85216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Multi-scale eigenvalues of Lₛᵧₘ (σ = 0.05, 0.1, 0.3) + 6 statistics per scale - global topology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0595" y="5888355"/>
            <a:ext cx="4956810" cy="3036570"/>
            <a:chOff x="0" y="0"/>
            <a:chExt cx="6609080" cy="40487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9080" cy="4048760"/>
            </a:xfrm>
            <a:custGeom>
              <a:avLst/>
              <a:gdLst/>
              <a:ahLst/>
              <a:cxnLst/>
              <a:rect l="l" t="t" r="r" b="b"/>
              <a:pathLst>
                <a:path w="6609080" h="404876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61887" y="0"/>
                  </a:lnTo>
                  <a:cubicBezTo>
                    <a:pt x="6543167" y="0"/>
                    <a:pt x="6609080" y="65913"/>
                    <a:pt x="6609080" y="147193"/>
                  </a:cubicBezTo>
                  <a:lnTo>
                    <a:pt x="6609080" y="3901567"/>
                  </a:lnTo>
                  <a:cubicBezTo>
                    <a:pt x="6609080" y="3982847"/>
                    <a:pt x="6543167" y="4048760"/>
                    <a:pt x="646188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4440" y="6172200"/>
            <a:ext cx="4389120" cy="685800"/>
            <a:chOff x="0" y="0"/>
            <a:chExt cx="585216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2160" cy="914400"/>
            </a:xfrm>
            <a:custGeom>
              <a:avLst/>
              <a:gdLst/>
              <a:ahLst/>
              <a:cxnLst/>
              <a:rect l="l" t="t" r="r" b="b"/>
              <a:pathLst>
                <a:path w="5852160" h="91440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8521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features (68)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4440" y="6858000"/>
            <a:ext cx="4389120" cy="1783080"/>
            <a:chOff x="0" y="0"/>
            <a:chExt cx="5852160" cy="2377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52160" cy="2377440"/>
            </a:xfrm>
            <a:custGeom>
              <a:avLst/>
              <a:gdLst/>
              <a:ahLst/>
              <a:cxnLst/>
              <a:rect l="l" t="t" r="r" b="b"/>
              <a:pathLst>
                <a:path w="5852160" h="2377440">
                  <a:moveTo>
                    <a:pt x="0" y="0"/>
                  </a:moveTo>
                  <a:lnTo>
                    <a:pt x="5852160" y="0"/>
                  </a:lnTo>
                  <a:lnTo>
                    <a:pt x="58521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r="-21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585216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LBP (26) · GLCM (10) · Gabor (32) - local micro-texture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48475" y="3968115"/>
            <a:ext cx="3996690" cy="2487930"/>
            <a:chOff x="0" y="0"/>
            <a:chExt cx="5328920" cy="33172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28920" cy="3317240"/>
            </a:xfrm>
            <a:custGeom>
              <a:avLst/>
              <a:gdLst/>
              <a:ahLst/>
              <a:cxnLst/>
              <a:rect l="l" t="t" r="r" b="b"/>
              <a:pathLst>
                <a:path w="5328920" h="331724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181473" y="0"/>
                  </a:lnTo>
                  <a:cubicBezTo>
                    <a:pt x="5262880" y="0"/>
                    <a:pt x="5328920" y="66040"/>
                    <a:pt x="5328920" y="147447"/>
                  </a:cubicBezTo>
                  <a:lnTo>
                    <a:pt x="5328920" y="3169793"/>
                  </a:lnTo>
                  <a:cubicBezTo>
                    <a:pt x="5328920" y="3251200"/>
                    <a:pt x="5262880" y="3317240"/>
                    <a:pt x="5181473" y="3317240"/>
                  </a:cubicBezTo>
                  <a:lnTo>
                    <a:pt x="147447" y="3317240"/>
                  </a:lnTo>
                  <a:cubicBezTo>
                    <a:pt x="66040" y="3317240"/>
                    <a:pt x="0" y="3251200"/>
                    <a:pt x="0" y="3169793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32320" y="4251960"/>
            <a:ext cx="3429000" cy="685800"/>
            <a:chOff x="0" y="0"/>
            <a:chExt cx="45720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5720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fusion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32320" y="4937760"/>
            <a:ext cx="3429000" cy="1234440"/>
            <a:chOff x="0" y="0"/>
            <a:chExt cx="4572000" cy="1645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72000" cy="1645920"/>
            </a:xfrm>
            <a:custGeom>
              <a:avLst/>
              <a:gdLst/>
              <a:ahLst/>
              <a:cxnLst/>
              <a:rect l="l" t="t" r="r" b="b"/>
              <a:pathLst>
                <a:path w="4572000" h="1645920">
                  <a:moveTo>
                    <a:pt x="0" y="0"/>
                  </a:moveTo>
                  <a:lnTo>
                    <a:pt x="4572000" y="0"/>
                  </a:lnTo>
                  <a:lnTo>
                    <a:pt x="4572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457200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236-dimensional hybrid vector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649075" y="3968115"/>
            <a:ext cx="5642610" cy="2487930"/>
            <a:chOff x="0" y="0"/>
            <a:chExt cx="7523480" cy="33172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523480" cy="3317240"/>
            </a:xfrm>
            <a:custGeom>
              <a:avLst/>
              <a:gdLst/>
              <a:ahLst/>
              <a:cxnLst/>
              <a:rect l="l" t="t" r="r" b="b"/>
              <a:pathLst>
                <a:path w="7523480" h="331724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376033" y="0"/>
                  </a:lnTo>
                  <a:cubicBezTo>
                    <a:pt x="7457439" y="0"/>
                    <a:pt x="7523480" y="66040"/>
                    <a:pt x="7523480" y="147447"/>
                  </a:cubicBezTo>
                  <a:lnTo>
                    <a:pt x="7523480" y="3169793"/>
                  </a:lnTo>
                  <a:cubicBezTo>
                    <a:pt x="7523480" y="3251200"/>
                    <a:pt x="7457439" y="3317240"/>
                    <a:pt x="7376033" y="3317240"/>
                  </a:cubicBezTo>
                  <a:lnTo>
                    <a:pt x="147447" y="3317240"/>
                  </a:lnTo>
                  <a:cubicBezTo>
                    <a:pt x="66040" y="3317240"/>
                    <a:pt x="0" y="3251200"/>
                    <a:pt x="0" y="3169793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932920" y="4251960"/>
            <a:ext cx="5074920" cy="685800"/>
            <a:chOff x="0" y="0"/>
            <a:chExt cx="676656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766560" cy="914400"/>
            </a:xfrm>
            <a:custGeom>
              <a:avLst/>
              <a:gdLst/>
              <a:ahLst/>
              <a:cxnLst/>
              <a:rect l="l" t="t" r="r" b="b"/>
              <a:pathLst>
                <a:path w="6766560" h="91440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89" b="-94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7665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TextureSpectralNet (MLP)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32920" y="4937760"/>
            <a:ext cx="5074920" cy="1234440"/>
            <a:chOff x="0" y="0"/>
            <a:chExt cx="6766560" cy="16459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66560" cy="1645920"/>
            </a:xfrm>
            <a:custGeom>
              <a:avLst/>
              <a:gdLst/>
              <a:ahLst/>
              <a:cxnLst/>
              <a:rect l="l" t="t" r="r" b="b"/>
              <a:pathLst>
                <a:path w="6766560" h="164592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05" b="-301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6766560" cy="1712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512 → 256 → 128 → C  with BatchNorm, ReLU, Dropout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5843100" y="3628512"/>
            <a:ext cx="1033952" cy="1191139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10848968" y="5177790"/>
            <a:ext cx="800107" cy="0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960120" y="9189720"/>
            <a:ext cx="16459200" cy="822960"/>
            <a:chOff x="0" y="0"/>
            <a:chExt cx="21945600" cy="10972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Rationale: the Laplacian spectrum encodes macroscopic connectivity; classical filters isolate the high-frequency micro-texture it smooths over. The two domains are complementary.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5794870" y="5212080"/>
            <a:ext cx="1053605" cy="1173203"/>
          </a:xfrm>
          <a:prstGeom prst="line">
            <a:avLst/>
          </a:prstGeom>
          <a:ln w="19050" cap="rnd">
            <a:solidFill>
              <a:srgbClr val="5B7FE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 on KTH-TIPS (10 material classes)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6012" y="1138428"/>
            <a:ext cx="12673584" cy="9244584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2060555" y="2322195"/>
            <a:ext cx="5368290" cy="6877050"/>
            <a:chOff x="0" y="0"/>
            <a:chExt cx="7157720" cy="9169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7720" cy="9169400"/>
            </a:xfrm>
            <a:custGeom>
              <a:avLst/>
              <a:gdLst/>
              <a:ahLst/>
              <a:cxnLst/>
              <a:rect l="l" t="t" r="r" b="b"/>
              <a:pathLst>
                <a:path w="7157720" h="9169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010908" y="0"/>
                  </a:lnTo>
                  <a:cubicBezTo>
                    <a:pt x="7091934" y="0"/>
                    <a:pt x="7157720" y="65786"/>
                    <a:pt x="7157720" y="146812"/>
                  </a:cubicBezTo>
                  <a:lnTo>
                    <a:pt x="7157720" y="9022588"/>
                  </a:lnTo>
                  <a:cubicBezTo>
                    <a:pt x="7157720" y="9103614"/>
                    <a:pt x="7091934" y="9169400"/>
                    <a:pt x="7010908" y="9169400"/>
                  </a:cubicBezTo>
                  <a:lnTo>
                    <a:pt x="146812" y="9169400"/>
                  </a:lnTo>
                  <a:cubicBezTo>
                    <a:pt x="65786" y="9169400"/>
                    <a:pt x="0" y="9103614"/>
                    <a:pt x="0" y="9022588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12980" y="2674620"/>
            <a:ext cx="4800600" cy="6172200"/>
            <a:chOff x="0" y="0"/>
            <a:chExt cx="6400800" cy="822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0800" cy="8229600"/>
            </a:xfrm>
            <a:custGeom>
              <a:avLst/>
              <a:gdLst/>
              <a:ahLst/>
              <a:cxnLst/>
              <a:rect l="l" t="t" r="r" b="b"/>
              <a:pathLst>
                <a:path w="6400800" h="8229600">
                  <a:moveTo>
                    <a:pt x="0" y="0"/>
                  </a:moveTo>
                  <a:lnTo>
                    <a:pt x="6400800" y="0"/>
                  </a:lnTo>
                  <a:lnTo>
                    <a:pt x="6400800" y="8229600"/>
                  </a:lnTo>
                  <a:lnTo>
                    <a:pt x="0" y="822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961" r="-1149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400800" cy="827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  <a:p>
              <a:pPr algn="l">
                <a:lnSpc>
                  <a:spcPts val="2430"/>
                </a:lnSpc>
              </a:pPr>
              <a:endParaRPr lang="en-US" sz="2550" b="1" dirty="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366474" lvl="1" indent="-183237" algn="l">
                <a:lnSpc>
                  <a:spcPts val="2430"/>
                </a:lnSpc>
                <a:buFont typeface="Arial"/>
                <a:buChar char="•"/>
              </a:pPr>
              <a:r>
                <a:rPr lang="en-US" sz="2025" dirty="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Eigenvalues alone reach 61% — 6× random, proving a real topological signal.</a:t>
              </a:r>
            </a:p>
            <a:p>
              <a:pPr marL="366474" lvl="1" indent="-183237" algn="l">
                <a:lnSpc>
                  <a:spcPts val="2430"/>
                </a:lnSpc>
                <a:buFont typeface="Arial"/>
                <a:buChar char="•"/>
              </a:pPr>
              <a:r>
                <a:rPr lang="en-US" sz="2025" dirty="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Fusing local descriptors leaps to 98.15%; 100% precision on more than 5 of 10 classes.</a:t>
              </a:r>
            </a:p>
            <a:p>
              <a:pPr marL="366474" lvl="1" indent="-183237" algn="l">
                <a:lnSpc>
                  <a:spcPts val="2430"/>
                </a:lnSpc>
                <a:buFont typeface="Arial"/>
                <a:buChar char="•"/>
              </a:pPr>
              <a:r>
                <a:rPr lang="en-US" sz="2025" dirty="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MLP beats </a:t>
              </a:r>
              <a:r>
                <a:rPr lang="en-US" sz="2025" dirty="0" err="1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  <a:r>
                <a:rPr lang="en-US" sz="2025" dirty="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even when </a:t>
              </a:r>
              <a:r>
                <a:rPr lang="en-US" sz="2025" dirty="0" err="1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  <a:r>
                <a:rPr lang="en-US" sz="2025" dirty="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gets extra color features.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Generalization: Describable Textures Dataset (DTD)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920240"/>
            <a:ext cx="16459200" cy="617220"/>
            <a:chOff x="0" y="0"/>
            <a:chExt cx="2194560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22960"/>
            </a:xfrm>
            <a:custGeom>
              <a:avLst/>
              <a:gdLst/>
              <a:ahLst/>
              <a:cxnLst/>
              <a:rect l="l" t="t" r="r" b="b"/>
              <a:pathLst>
                <a:path w="21945600" h="822960">
                  <a:moveTo>
                    <a:pt x="0" y="0"/>
                  </a:moveTo>
                  <a:lnTo>
                    <a:pt x="21945600" y="0"/>
                  </a:lnTo>
                  <a:lnTo>
                    <a:pt x="21945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6B76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47 perceptual categories · 5,640 unconstrained “in-the-wild” images · random baseline 2.13%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" y="1837944"/>
            <a:ext cx="10863072" cy="8119872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551795" y="2733675"/>
            <a:ext cx="6877050" cy="3036570"/>
            <a:chOff x="0" y="0"/>
            <a:chExt cx="9169400" cy="4048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69400" cy="4048760"/>
            </a:xfrm>
            <a:custGeom>
              <a:avLst/>
              <a:gdLst/>
              <a:ahLst/>
              <a:cxnLst/>
              <a:rect l="l" t="t" r="r" b="b"/>
              <a:pathLst>
                <a:path w="9169400" h="404876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9022207" y="0"/>
                  </a:lnTo>
                  <a:cubicBezTo>
                    <a:pt x="9103487" y="0"/>
                    <a:pt x="9169400" y="65913"/>
                    <a:pt x="9169400" y="147193"/>
                  </a:cubicBezTo>
                  <a:lnTo>
                    <a:pt x="9169400" y="3901567"/>
                  </a:lnTo>
                  <a:cubicBezTo>
                    <a:pt x="9169400" y="3982847"/>
                    <a:pt x="9103487" y="4048760"/>
                    <a:pt x="902220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4220" y="3086100"/>
            <a:ext cx="6309360" cy="2331720"/>
            <a:chOff x="0" y="0"/>
            <a:chExt cx="8412480" cy="3108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12480" cy="3108960"/>
            </a:xfrm>
            <a:custGeom>
              <a:avLst/>
              <a:gdLst/>
              <a:ahLst/>
              <a:cxnLst/>
              <a:rect l="l" t="t" r="r" b="b"/>
              <a:pathLst>
                <a:path w="8412480" h="3108960">
                  <a:moveTo>
                    <a:pt x="0" y="0"/>
                  </a:moveTo>
                  <a:lnTo>
                    <a:pt x="8412480" y="0"/>
                  </a:lnTo>
                  <a:lnTo>
                    <a:pt x="84124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24" b="-27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8412480" cy="3232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1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Geometric textures shine:</a:t>
              </a:r>
            </a:p>
            <a:p>
              <a:pPr algn="l">
                <a:lnSpc>
                  <a:spcPts val="330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banded 80% · waffled 72.5% · chequered 65%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51795" y="6025515"/>
            <a:ext cx="6877050" cy="3036570"/>
            <a:chOff x="0" y="0"/>
            <a:chExt cx="9169400" cy="40487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69400" cy="4048760"/>
            </a:xfrm>
            <a:custGeom>
              <a:avLst/>
              <a:gdLst/>
              <a:ahLst/>
              <a:cxnLst/>
              <a:rect l="l" t="t" r="r" b="b"/>
              <a:pathLst>
                <a:path w="9169400" h="404876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9022207" y="0"/>
                  </a:lnTo>
                  <a:cubicBezTo>
                    <a:pt x="9103487" y="0"/>
                    <a:pt x="9169400" y="65913"/>
                    <a:pt x="9169400" y="147193"/>
                  </a:cubicBezTo>
                  <a:lnTo>
                    <a:pt x="9169400" y="3901567"/>
                  </a:lnTo>
                  <a:cubicBezTo>
                    <a:pt x="9169400" y="3982847"/>
                    <a:pt x="9103487" y="4048760"/>
                    <a:pt x="902220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4F7FE"/>
            </a:solidFill>
            <a:ln w="19050" cap="sq">
              <a:solidFill>
                <a:srgbClr val="E2E8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04220" y="6377940"/>
            <a:ext cx="6309360" cy="2331720"/>
            <a:chOff x="0" y="0"/>
            <a:chExt cx="8412480" cy="3108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412480" cy="3108960"/>
            </a:xfrm>
            <a:custGeom>
              <a:avLst/>
              <a:gdLst/>
              <a:ahLst/>
              <a:cxnLst/>
              <a:rect l="l" t="t" r="r" b="b"/>
              <a:pathLst>
                <a:path w="8412480" h="3108960">
                  <a:moveTo>
                    <a:pt x="0" y="0"/>
                  </a:moveTo>
                  <a:lnTo>
                    <a:pt x="8412480" y="0"/>
                  </a:lnTo>
                  <a:lnTo>
                    <a:pt x="84124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24" b="-27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8412480" cy="3232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1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Amorphous textures resist:</a:t>
              </a:r>
            </a:p>
            <a:p>
              <a:pPr algn="l">
                <a:lnSpc>
                  <a:spcPts val="330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spiralled 2.5% · smeared 10% · marbled 15% - chaotic diffusion graphs defeat periodicity-based operators.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6596360" cy="1234440"/>
            <a:chOff x="0" y="0"/>
            <a:chExt cx="2212848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Comparative Summary: KTH-TIPS vs. DTD</a:t>
              </a: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0120" y="2468880"/>
          <a:ext cx="16230600" cy="2628900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Spectral baseline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Hybrid (MLP)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Color + XGBoost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3333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KTH-TIPS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10.00%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61.11%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5B7F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98.15%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93.21%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3333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DTD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2.13%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18.62%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5B7F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37.61%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333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36.38%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1234440" y="5760720"/>
            <a:ext cx="15773400" cy="3703320"/>
            <a:chOff x="0" y="0"/>
            <a:chExt cx="21031200" cy="4937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31200" cy="4937760"/>
            </a:xfrm>
            <a:custGeom>
              <a:avLst/>
              <a:gdLst/>
              <a:ahLst/>
              <a:cxnLst/>
              <a:rect l="l" t="t" r="r" b="b"/>
              <a:pathLst>
                <a:path w="21031200" h="4937760">
                  <a:moveTo>
                    <a:pt x="0" y="0"/>
                  </a:moveTo>
                  <a:lnTo>
                    <a:pt x="21031200" y="0"/>
                  </a:lnTo>
                  <a:lnTo>
                    <a:pt x="210312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1" b="-32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031200" cy="4985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same pattern holds in both worlds:</a:t>
              </a:r>
            </a:p>
            <a:p>
              <a:pPr algn="l">
                <a:lnSpc>
                  <a:spcPts val="2700"/>
                </a:lnSpc>
              </a:pPr>
              <a:endParaRPr lang="en-US" sz="2550" b="1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407194" lvl="1" indent="-203597" algn="l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Spectral features always beat chance by a wide margin - topology is a real signal.</a:t>
              </a:r>
            </a:p>
            <a:p>
              <a:pPr marL="407194" lvl="1" indent="-203597" algn="l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fusion always delivers the largest jump (×1.6 on KTH-TIPS, ×2 on DTD).</a:t>
              </a:r>
            </a:p>
            <a:p>
              <a:pPr marL="407194" lvl="1" indent="-203597" algn="l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deep MLP always edges out XGBoost - even when XGBoost receives extra color features.</a:t>
              </a:r>
            </a:p>
            <a:p>
              <a:pPr marL="407194" lvl="1" indent="-203597" algn="l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Absolute accuracy tracks how periodic the textures are: structure is easy to “hear,” chaos is not.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6459200" cy="1234440"/>
            <a:chOff x="0" y="0"/>
            <a:chExt cx="2194560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645920"/>
            </a:xfrm>
            <a:custGeom>
              <a:avLst/>
              <a:gdLst/>
              <a:ahLst/>
              <a:cxnLst/>
              <a:rect l="l" t="t" r="r" b="b"/>
              <a:pathLst>
                <a:path w="21945600" h="164592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331720"/>
            <a:ext cx="8092440" cy="3291840"/>
            <a:chOff x="0" y="0"/>
            <a:chExt cx="10789920" cy="4389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89920" cy="4389120"/>
            </a:xfrm>
            <a:custGeom>
              <a:avLst/>
              <a:gdLst/>
              <a:ahLst/>
              <a:cxnLst/>
              <a:rect l="l" t="t" r="r" b="b"/>
              <a:pathLst>
                <a:path w="10789920" h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242816"/>
                  </a:lnTo>
                  <a:cubicBezTo>
                    <a:pt x="10789920" y="4323588"/>
                    <a:pt x="10724388" y="4389120"/>
                    <a:pt x="10643616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1620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2674620"/>
            <a:ext cx="7269480" cy="754380"/>
            <a:chOff x="0" y="0"/>
            <a:chExt cx="9692640" cy="1005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92640" cy="1005840"/>
            </a:xfrm>
            <a:custGeom>
              <a:avLst/>
              <a:gdLst/>
              <a:ahLst/>
              <a:cxnLst/>
              <a:rect l="l" t="t" r="r" b="b"/>
              <a:pathLst>
                <a:path w="9692640" h="10058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69264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Texture can be “heard”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497580"/>
            <a:ext cx="7269480" cy="1920240"/>
            <a:chOff x="0" y="0"/>
            <a:chExt cx="9692640" cy="2560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2640" cy="2560320"/>
            </a:xfrm>
            <a:custGeom>
              <a:avLst/>
              <a:gdLst/>
              <a:ahLst/>
              <a:cxnLst/>
              <a:rect l="l" t="t" r="r" b="b"/>
              <a:pathLst>
                <a:path w="9692640" h="2560320">
                  <a:moveTo>
                    <a:pt x="0" y="0"/>
                  </a:moveTo>
                  <a:lnTo>
                    <a:pt x="9692640" y="0"/>
                  </a:lnTo>
                  <a:lnTo>
                    <a:pt x="96926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4" b="-23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9692640" cy="2646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025">
                  <a:solidFill>
                    <a:srgbClr val="D8E2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Laplacian spectrum carries a genuine, quantifiable texture signal - far above chance on both datasets.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64040" y="2331720"/>
            <a:ext cx="8092440" cy="3291840"/>
            <a:chOff x="0" y="0"/>
            <a:chExt cx="10789920" cy="4389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89920" cy="4389120"/>
            </a:xfrm>
            <a:custGeom>
              <a:avLst/>
              <a:gdLst/>
              <a:ahLst/>
              <a:cxnLst/>
              <a:rect l="l" t="t" r="r" b="b"/>
              <a:pathLst>
                <a:path w="10789920" h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242816"/>
                  </a:lnTo>
                  <a:cubicBezTo>
                    <a:pt x="10789920" y="4323588"/>
                    <a:pt x="10724388" y="4389120"/>
                    <a:pt x="10643616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1620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5520" y="2674620"/>
            <a:ext cx="7269480" cy="754380"/>
            <a:chOff x="0" y="0"/>
            <a:chExt cx="969264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92640" cy="1005840"/>
            </a:xfrm>
            <a:custGeom>
              <a:avLst/>
              <a:gdLst/>
              <a:ahLst/>
              <a:cxnLst/>
              <a:rect l="l" t="t" r="r" b="b"/>
              <a:pathLst>
                <a:path w="9692640" h="10058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69264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Fusion is essential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75520" y="3497580"/>
            <a:ext cx="7269480" cy="1920240"/>
            <a:chOff x="0" y="0"/>
            <a:chExt cx="9692640" cy="2560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92640" cy="2560320"/>
            </a:xfrm>
            <a:custGeom>
              <a:avLst/>
              <a:gdLst/>
              <a:ahLst/>
              <a:cxnLst/>
              <a:rect l="l" t="t" r="r" b="b"/>
              <a:pathLst>
                <a:path w="9692640" h="2560320">
                  <a:moveTo>
                    <a:pt x="0" y="0"/>
                  </a:moveTo>
                  <a:lnTo>
                    <a:pt x="9692640" y="0"/>
                  </a:lnTo>
                  <a:lnTo>
                    <a:pt x="96926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4" b="-23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9692640" cy="2646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025">
                  <a:solidFill>
                    <a:srgbClr val="D8E2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topology + local filters map complementary information; fusion doubled DTD accuracy and lifted KTH-TIPS from 61% to 98%.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0120" y="6035040"/>
            <a:ext cx="8092440" cy="3291840"/>
            <a:chOff x="0" y="0"/>
            <a:chExt cx="10789920" cy="4389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89920" cy="4389120"/>
            </a:xfrm>
            <a:custGeom>
              <a:avLst/>
              <a:gdLst/>
              <a:ahLst/>
              <a:cxnLst/>
              <a:rect l="l" t="t" r="r" b="b"/>
              <a:pathLst>
                <a:path w="10789920" h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242816"/>
                  </a:lnTo>
                  <a:cubicBezTo>
                    <a:pt x="10789920" y="4323588"/>
                    <a:pt x="10724388" y="4389120"/>
                    <a:pt x="10643616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1620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1600" y="6377940"/>
            <a:ext cx="7269480" cy="754380"/>
            <a:chOff x="0" y="0"/>
            <a:chExt cx="969264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92640" cy="1005840"/>
            </a:xfrm>
            <a:custGeom>
              <a:avLst/>
              <a:gdLst/>
              <a:ahLst/>
              <a:cxnLst/>
              <a:rect l="l" t="t" r="r" b="b"/>
              <a:pathLst>
                <a:path w="9692640" h="10058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969264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 beats color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71600" y="7200900"/>
            <a:ext cx="7269480" cy="1920240"/>
            <a:chOff x="0" y="0"/>
            <a:chExt cx="9692640" cy="25603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692640" cy="2560320"/>
            </a:xfrm>
            <a:custGeom>
              <a:avLst/>
              <a:gdLst/>
              <a:ahLst/>
              <a:cxnLst/>
              <a:rect l="l" t="t" r="r" b="b"/>
              <a:pathLst>
                <a:path w="9692640" h="2560320">
                  <a:moveTo>
                    <a:pt x="0" y="0"/>
                  </a:moveTo>
                  <a:lnTo>
                    <a:pt x="9692640" y="0"/>
                  </a:lnTo>
                  <a:lnTo>
                    <a:pt x="96926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4" b="-23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9692640" cy="2646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025">
                  <a:solidFill>
                    <a:srgbClr val="D8E2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HSV features never surpassed purely structural pipelines - texture is geometric, not colorimetric.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64040" y="6035040"/>
            <a:ext cx="8092440" cy="3291840"/>
            <a:chOff x="0" y="0"/>
            <a:chExt cx="10789920" cy="4389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89920" cy="4389120"/>
            </a:xfrm>
            <a:custGeom>
              <a:avLst/>
              <a:gdLst/>
              <a:ahLst/>
              <a:cxnLst/>
              <a:rect l="l" t="t" r="r" b="b"/>
              <a:pathLst>
                <a:path w="10789920" h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242816"/>
                  </a:lnTo>
                  <a:cubicBezTo>
                    <a:pt x="10789920" y="4323588"/>
                    <a:pt x="10724388" y="4389120"/>
                    <a:pt x="10643616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1620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875520" y="6377940"/>
            <a:ext cx="7269480" cy="754380"/>
            <a:chOff x="0" y="0"/>
            <a:chExt cx="9692640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692640" cy="1005840"/>
            </a:xfrm>
            <a:custGeom>
              <a:avLst/>
              <a:gdLst/>
              <a:ahLst/>
              <a:cxnLst/>
              <a:rect l="l" t="t" r="r" b="b"/>
              <a:pathLst>
                <a:path w="9692640" h="10058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969264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nets beat trees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875520" y="7200900"/>
            <a:ext cx="7269480" cy="1920240"/>
            <a:chOff x="0" y="0"/>
            <a:chExt cx="9692640" cy="25603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692640" cy="2560320"/>
            </a:xfrm>
            <a:custGeom>
              <a:avLst/>
              <a:gdLst/>
              <a:ahLst/>
              <a:cxnLst/>
              <a:rect l="l" t="t" r="r" b="b"/>
              <a:pathLst>
                <a:path w="9692640" h="2560320">
                  <a:moveTo>
                    <a:pt x="0" y="0"/>
                  </a:moveTo>
                  <a:lnTo>
                    <a:pt x="9692640" y="0"/>
                  </a:lnTo>
                  <a:lnTo>
                    <a:pt x="96926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4" b="-237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9692640" cy="2646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025">
                  <a:solidFill>
                    <a:srgbClr val="D8E2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MLPs synthesize non-linear spectral–spatial relations that axis-aligned tree splits cannot; future work: Forman curvature for chaotic textures.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3703320"/>
            <a:ext cx="15773400" cy="1371600"/>
            <a:chOff x="0" y="0"/>
            <a:chExt cx="21031200" cy="182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828800"/>
            </a:xfrm>
            <a:custGeom>
              <a:avLst/>
              <a:gdLst/>
              <a:ahLst/>
              <a:cxnLst/>
              <a:rect l="l" t="t" r="r" b="b"/>
              <a:pathLst>
                <a:path w="21031200" h="18288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847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5349240"/>
            <a:ext cx="15087600" cy="822960"/>
            <a:chOff x="0" y="0"/>
            <a:chExt cx="20116800" cy="10972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16800" cy="1097280"/>
            </a:xfrm>
            <a:custGeom>
              <a:avLst/>
              <a:gdLst/>
              <a:ahLst/>
              <a:cxnLst/>
              <a:rect l="l" t="t" r="r" b="b"/>
              <a:pathLst>
                <a:path w="20116800" h="109728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25" b="-3072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1168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“It is ‘heard’ through the shape of its graph, not the hue of its pixels.”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4440" y="6858000"/>
            <a:ext cx="8229600" cy="685800"/>
            <a:chOff x="0" y="0"/>
            <a:chExt cx="109728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914400"/>
            </a:xfrm>
            <a:custGeom>
              <a:avLst/>
              <a:gdLst/>
              <a:ahLst/>
              <a:cxnLst/>
              <a:rect l="l" t="t" r="r" b="b"/>
              <a:pathLst>
                <a:path w="10972800" h="9144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97280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5B7F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3614</Words>
  <Application>Microsoft Office PowerPoint</Application>
  <PresentationFormat>Custom</PresentationFormat>
  <Paragraphs>275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Calibri (MS) Italics</vt:lpstr>
      <vt:lpstr>Calibri (MS) Bold</vt:lpstr>
      <vt:lpstr>Calibri (MS)</vt:lpstr>
      <vt:lpstr>Arial</vt:lpstr>
      <vt:lpstr>Cambria Italics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Laplacian_Spectrum_Capstone (1).pptx</dc:title>
  <dc:creator>shadiGTI</dc:creator>
  <cp:lastModifiedBy>שאדי אל קיש</cp:lastModifiedBy>
  <cp:revision>7</cp:revision>
  <dcterms:created xsi:type="dcterms:W3CDTF">2006-08-16T00:00:00Z</dcterms:created>
  <dcterms:modified xsi:type="dcterms:W3CDTF">2026-08-24T08:01:58Z</dcterms:modified>
  <dc:identifier>DAHSn1NgYm0</dc:identifier>
</cp:coreProperties>
</file>